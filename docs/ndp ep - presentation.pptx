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75" r:id="rId6"/>
    <p:sldId id="271" r:id="rId7"/>
    <p:sldId id="273" r:id="rId8"/>
    <p:sldId id="274" r:id="rId9"/>
    <p:sldId id="272" r:id="rId10"/>
    <p:sldId id="260" r:id="rId11"/>
    <p:sldId id="263" r:id="rId12"/>
    <p:sldId id="276" r:id="rId13"/>
    <p:sldId id="277" r:id="rId14"/>
    <p:sldId id="262" r:id="rId15"/>
    <p:sldId id="264" r:id="rId16"/>
    <p:sldId id="265" r:id="rId17"/>
    <p:sldId id="266" r:id="rId18"/>
    <p:sldId id="267" r:id="rId19"/>
    <p:sldId id="269" r:id="rId20"/>
    <p:sldId id="270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D3871-9CE1-F5F5-5424-F3C37F1A5E1C}" v="1522" dt="2025-08-29T10:26:45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1" autoAdjust="0"/>
    <p:restoredTop sz="94660"/>
  </p:normalViewPr>
  <p:slideViewPr>
    <p:cSldViewPr snapToGrid="0">
      <p:cViewPr>
        <p:scale>
          <a:sx n="66" d="100"/>
          <a:sy n="66" d="100"/>
        </p:scale>
        <p:origin x="1095" y="5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slide" Target="slides/slide17.xml" Id="rId18" /><Relationship Type="http://schemas.openxmlformats.org/officeDocument/2006/relationships/slide" Target="slides/slide2.xml" Id="rId3" /><Relationship Type="http://schemas.openxmlformats.org/officeDocument/2006/relationships/slide" Target="slides/slide20.xml" Id="rId21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tableStyles" Target="tableStyles.xml" Id="rId25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slide" Target="slides/slide19.xml" Id="rId20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theme" Target="theme/theme1.xml" Id="rId24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viewProps" Target="viewProps.xml" Id="rId23" /><Relationship Type="http://schemas.openxmlformats.org/officeDocument/2006/relationships/slide" Target="slides/slide9.xml" Id="rId10" /><Relationship Type="http://schemas.openxmlformats.org/officeDocument/2006/relationships/slide" Target="slides/slide18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presProps" Target="presProps.xml" Id="rId22" /><Relationship Type="http://schemas.microsoft.com/office/2015/10/relationships/revisionInfo" Target="revisionInfo.xml" Id="rId27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22B497-AF5E-4238-B485-9FBFE262FB54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33873620-0F31-46D4-BB14-286235C6335D}">
      <dgm:prSet phldrT="[Texto]"/>
      <dgm:spPr/>
      <dgm:t>
        <a:bodyPr/>
        <a:lstStyle/>
        <a:p>
          <a:pPr>
            <a:buNone/>
          </a:pPr>
          <a:r>
            <a:rPr lang="es-ES" b="1" dirty="0"/>
            <a:t>Local </a:t>
          </a:r>
          <a:r>
            <a:rPr lang="es-ES" b="1" dirty="0" err="1"/>
            <a:t>Development</a:t>
          </a:r>
          <a:endParaRPr lang="es-ES" dirty="0"/>
        </a:p>
      </dgm:t>
    </dgm:pt>
    <dgm:pt modelId="{A8B15F72-060A-4943-B248-D93F26B2903B}" type="parTrans" cxnId="{230E430D-D1FF-4AE2-A609-9FA6FF511B77}">
      <dgm:prSet/>
      <dgm:spPr/>
      <dgm:t>
        <a:bodyPr/>
        <a:lstStyle/>
        <a:p>
          <a:endParaRPr lang="es-ES"/>
        </a:p>
      </dgm:t>
    </dgm:pt>
    <dgm:pt modelId="{376B5583-4727-48F0-A563-1DC29D4CBDA5}" type="sibTrans" cxnId="{230E430D-D1FF-4AE2-A609-9FA6FF511B77}">
      <dgm:prSet/>
      <dgm:spPr/>
      <dgm:t>
        <a:bodyPr/>
        <a:lstStyle/>
        <a:p>
          <a:endParaRPr lang="es-ES"/>
        </a:p>
      </dgm:t>
    </dgm:pt>
    <dgm:pt modelId="{0C099BF5-48BE-44E5-BB13-8B7C30B85826}">
      <dgm:prSet/>
      <dgm:spPr/>
      <dgm:t>
        <a:bodyPr/>
        <a:lstStyle/>
        <a:p>
          <a:pPr>
            <a:buNone/>
          </a:pPr>
          <a:r>
            <a:rPr lang="es-ES" b="1" dirty="0"/>
            <a:t>Local CKAN </a:t>
          </a:r>
          <a:r>
            <a:rPr lang="es-ES" b="1" dirty="0" err="1"/>
            <a:t>Instance</a:t>
          </a:r>
          <a:endParaRPr lang="es-ES" dirty="0"/>
        </a:p>
      </dgm:t>
    </dgm:pt>
    <dgm:pt modelId="{7A0E3DA3-F10F-42DC-A454-A627322B995E}" type="parTrans" cxnId="{72F93298-8A2F-49E3-AD46-C6F11B7EB733}">
      <dgm:prSet/>
      <dgm:spPr/>
      <dgm:t>
        <a:bodyPr/>
        <a:lstStyle/>
        <a:p>
          <a:endParaRPr lang="es-ES"/>
        </a:p>
      </dgm:t>
    </dgm:pt>
    <dgm:pt modelId="{AEF4D5B1-4BBE-44B7-82D2-13815B550003}" type="sibTrans" cxnId="{72F93298-8A2F-49E3-AD46-C6F11B7EB733}">
      <dgm:prSet/>
      <dgm:spPr/>
      <dgm:t>
        <a:bodyPr/>
        <a:lstStyle/>
        <a:p>
          <a:endParaRPr lang="es-ES"/>
        </a:p>
      </dgm:t>
    </dgm:pt>
    <dgm:pt modelId="{AB7648A0-030C-4F9F-9C6C-6959CB23EBF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User registers and develops dataset in their own CKAN</a:t>
          </a:r>
        </a:p>
      </dgm:t>
    </dgm:pt>
    <dgm:pt modelId="{BCF3B5E9-E433-4766-92D4-A4CC984C951D}" type="parTrans" cxnId="{1AAA5AF5-AFCD-49FB-8819-23F63A2C157D}">
      <dgm:prSet/>
      <dgm:spPr/>
      <dgm:t>
        <a:bodyPr/>
        <a:lstStyle/>
        <a:p>
          <a:endParaRPr lang="es-ES"/>
        </a:p>
      </dgm:t>
    </dgm:pt>
    <dgm:pt modelId="{5B3F1967-C236-4B7E-9A30-769EBDF42B78}" type="sibTrans" cxnId="{1AAA5AF5-AFCD-49FB-8819-23F63A2C157D}">
      <dgm:prSet/>
      <dgm:spPr/>
      <dgm:t>
        <a:bodyPr/>
        <a:lstStyle/>
        <a:p>
          <a:endParaRPr lang="es-ES"/>
        </a:p>
      </dgm:t>
    </dgm:pt>
    <dgm:pt modelId="{0D12E805-7A81-42EE-AE40-BD66091FCC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Full control: create, update, test, and refine data</a:t>
          </a:r>
        </a:p>
      </dgm:t>
    </dgm:pt>
    <dgm:pt modelId="{AB74EFB2-A74B-492A-A671-CEA760119C7C}" type="parTrans" cxnId="{7C3EB861-8814-4550-A8ED-A07945BFB0A2}">
      <dgm:prSet/>
      <dgm:spPr/>
      <dgm:t>
        <a:bodyPr/>
        <a:lstStyle/>
        <a:p>
          <a:endParaRPr lang="es-ES"/>
        </a:p>
      </dgm:t>
    </dgm:pt>
    <dgm:pt modelId="{9A203472-2941-4933-8C64-C8358DBE102C}" type="sibTrans" cxnId="{7C3EB861-8814-4550-A8ED-A07945BFB0A2}">
      <dgm:prSet/>
      <dgm:spPr/>
      <dgm:t>
        <a:bodyPr/>
        <a:lstStyle/>
        <a:p>
          <a:endParaRPr lang="es-ES"/>
        </a:p>
      </dgm:t>
    </dgm:pt>
    <dgm:pt modelId="{C63FFCE9-68A6-43A8-8806-18164B359C6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Private workspace for experimentation and preparation</a:t>
          </a:r>
        </a:p>
      </dgm:t>
    </dgm:pt>
    <dgm:pt modelId="{5B4C946F-5181-4FFE-A4B2-5D1924C5D90D}" type="parTrans" cxnId="{23F02A11-FA0C-4616-89C9-B6D0C65A3FD6}">
      <dgm:prSet/>
      <dgm:spPr/>
      <dgm:t>
        <a:bodyPr/>
        <a:lstStyle/>
        <a:p>
          <a:endParaRPr lang="es-ES"/>
        </a:p>
      </dgm:t>
    </dgm:pt>
    <dgm:pt modelId="{BD46992D-FCF0-448C-81D1-4344F3A39792}" type="sibTrans" cxnId="{23F02A11-FA0C-4616-89C9-B6D0C65A3FD6}">
      <dgm:prSet/>
      <dgm:spPr/>
      <dgm:t>
        <a:bodyPr/>
        <a:lstStyle/>
        <a:p>
          <a:endParaRPr lang="es-ES"/>
        </a:p>
      </dgm:t>
    </dgm:pt>
    <dgm:pt modelId="{B87E6A15-38D1-4A65-8559-225634613025}">
      <dgm:prSet/>
      <dgm:spPr/>
      <dgm:t>
        <a:bodyPr/>
        <a:lstStyle/>
        <a:p>
          <a:pPr>
            <a:buNone/>
          </a:pPr>
          <a:r>
            <a:rPr lang="en-US" b="1" dirty="0"/>
            <a:t>Submission for Review</a:t>
          </a:r>
        </a:p>
      </dgm:t>
    </dgm:pt>
    <dgm:pt modelId="{A99D7640-52B9-4D30-A185-EBCCD22DBC40}" type="parTrans" cxnId="{8BACE2A0-3CBA-4F00-A946-4A70AD6F590B}">
      <dgm:prSet/>
      <dgm:spPr/>
      <dgm:t>
        <a:bodyPr/>
        <a:lstStyle/>
        <a:p>
          <a:endParaRPr lang="es-ES"/>
        </a:p>
      </dgm:t>
    </dgm:pt>
    <dgm:pt modelId="{4F9FEAC5-AF87-4F3D-BF4C-B484C55D471C}" type="sibTrans" cxnId="{8BACE2A0-3CBA-4F00-A946-4A70AD6F590B}">
      <dgm:prSet/>
      <dgm:spPr/>
      <dgm:t>
        <a:bodyPr/>
        <a:lstStyle/>
        <a:p>
          <a:endParaRPr lang="es-ES"/>
        </a:p>
      </dgm:t>
    </dgm:pt>
    <dgm:pt modelId="{F57396B2-EF67-4044-B939-9564BAE9B487}">
      <dgm:prSet/>
      <dgm:spPr/>
      <dgm:t>
        <a:bodyPr/>
        <a:lstStyle/>
        <a:p>
          <a:pPr>
            <a:buNone/>
          </a:pPr>
          <a:r>
            <a:rPr lang="es-ES" b="1" dirty="0"/>
            <a:t>Pre-CKAN </a:t>
          </a:r>
          <a:r>
            <a:rPr lang="es-ES" b="1" dirty="0" err="1"/>
            <a:t>Staging</a:t>
          </a:r>
          <a:r>
            <a:rPr lang="es-ES" b="1" dirty="0"/>
            <a:t> </a:t>
          </a:r>
          <a:r>
            <a:rPr lang="es-ES" b="1" dirty="0" err="1"/>
            <a:t>Environment</a:t>
          </a:r>
          <a:endParaRPr lang="es-ES" dirty="0"/>
        </a:p>
      </dgm:t>
    </dgm:pt>
    <dgm:pt modelId="{3861C09F-D3B7-43C1-A4C8-9D4BD80D0850}" type="parTrans" cxnId="{598601E5-0B7F-4AC9-BB10-34163CE8A594}">
      <dgm:prSet/>
      <dgm:spPr/>
      <dgm:t>
        <a:bodyPr/>
        <a:lstStyle/>
        <a:p>
          <a:endParaRPr lang="es-ES"/>
        </a:p>
      </dgm:t>
    </dgm:pt>
    <dgm:pt modelId="{82A8EE53-8441-466A-B981-8CEAC495051C}" type="sibTrans" cxnId="{598601E5-0B7F-4AC9-BB10-34163CE8A594}">
      <dgm:prSet/>
      <dgm:spPr/>
      <dgm:t>
        <a:bodyPr/>
        <a:lstStyle/>
        <a:p>
          <a:endParaRPr lang="es-ES"/>
        </a:p>
      </dgm:t>
    </dgm:pt>
    <dgm:pt modelId="{E3153A55-6789-420F-AE49-B8C2BB0FF2A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User submits dataset through NDP </a:t>
          </a:r>
          <a:r>
            <a:rPr lang="en-US" dirty="0" err="1"/>
            <a:t>EndPoints</a:t>
          </a:r>
          <a:endParaRPr lang="en-US" dirty="0"/>
        </a:p>
      </dgm:t>
    </dgm:pt>
    <dgm:pt modelId="{AD93C5B9-45EE-4114-B6A5-A549C139F585}" type="parTrans" cxnId="{6573FA71-3303-4FAD-A9A9-EA1C2A438135}">
      <dgm:prSet/>
      <dgm:spPr/>
      <dgm:t>
        <a:bodyPr/>
        <a:lstStyle/>
        <a:p>
          <a:endParaRPr lang="es-ES"/>
        </a:p>
      </dgm:t>
    </dgm:pt>
    <dgm:pt modelId="{196F0220-9D08-4FD0-B921-DFD64A2F1A68}" type="sibTrans" cxnId="{6573FA71-3303-4FAD-A9A9-EA1C2A438135}">
      <dgm:prSet/>
      <dgm:spPr/>
      <dgm:t>
        <a:bodyPr/>
        <a:lstStyle/>
        <a:p>
          <a:endParaRPr lang="es-ES"/>
        </a:p>
      </dgm:t>
    </dgm:pt>
    <dgm:pt modelId="{B86F11B5-107B-49E7-BC92-3DB2FD5AF7F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NDP team reviews submission for approval</a:t>
          </a:r>
        </a:p>
      </dgm:t>
    </dgm:pt>
    <dgm:pt modelId="{2E07524F-546D-41F5-9FC7-4649DAF3AB0C}" type="parTrans" cxnId="{415C8BA6-D002-4E8E-A548-1F14C6BAA0D5}">
      <dgm:prSet/>
      <dgm:spPr/>
      <dgm:t>
        <a:bodyPr/>
        <a:lstStyle/>
        <a:p>
          <a:endParaRPr lang="es-ES"/>
        </a:p>
      </dgm:t>
    </dgm:pt>
    <dgm:pt modelId="{79B1C5C6-7018-4A5A-BEC9-05450EA93138}" type="sibTrans" cxnId="{415C8BA6-D002-4E8E-A548-1F14C6BAA0D5}">
      <dgm:prSet/>
      <dgm:spPr/>
      <dgm:t>
        <a:bodyPr/>
        <a:lstStyle/>
        <a:p>
          <a:endParaRPr lang="es-ES"/>
        </a:p>
      </dgm:t>
    </dgm:pt>
    <dgm:pt modelId="{0C747DF9-4C38-4307-A6A4-AC7DCE2569AC}">
      <dgm:prSet/>
      <dgm:spPr/>
      <dgm:t>
        <a:bodyPr/>
        <a:lstStyle/>
        <a:p>
          <a:pPr>
            <a:buNone/>
          </a:pPr>
          <a:r>
            <a:rPr lang="es-ES" b="1" dirty="0" err="1"/>
            <a:t>Public</a:t>
          </a:r>
          <a:r>
            <a:rPr lang="es-ES" b="1" dirty="0"/>
            <a:t> </a:t>
          </a:r>
          <a:r>
            <a:rPr lang="es-ES" b="1" dirty="0" err="1"/>
            <a:t>Publication</a:t>
          </a:r>
          <a:endParaRPr lang="es-ES" b="1" dirty="0"/>
        </a:p>
      </dgm:t>
    </dgm:pt>
    <dgm:pt modelId="{6EE541AD-091E-4241-A12E-E3F430307566}" type="parTrans" cxnId="{F31EA9A1-2A1F-4469-84BB-863B5DBD1762}">
      <dgm:prSet/>
      <dgm:spPr/>
      <dgm:t>
        <a:bodyPr/>
        <a:lstStyle/>
        <a:p>
          <a:endParaRPr lang="es-ES"/>
        </a:p>
      </dgm:t>
    </dgm:pt>
    <dgm:pt modelId="{1CBE22AA-2C62-4995-961F-18544951B12B}" type="sibTrans" cxnId="{F31EA9A1-2A1F-4469-84BB-863B5DBD1762}">
      <dgm:prSet/>
      <dgm:spPr/>
      <dgm:t>
        <a:bodyPr/>
        <a:lstStyle/>
        <a:p>
          <a:endParaRPr lang="es-ES"/>
        </a:p>
      </dgm:t>
    </dgm:pt>
    <dgm:pt modelId="{CC3E79D4-F67F-4E73-A039-697C47B30B46}">
      <dgm:prSet/>
      <dgm:spPr/>
      <dgm:t>
        <a:bodyPr/>
        <a:lstStyle/>
        <a:p>
          <a:pPr>
            <a:buNone/>
          </a:pPr>
          <a:r>
            <a:rPr lang="es-ES" b="1" dirty="0"/>
            <a:t>NDP Central Catalog</a:t>
          </a:r>
          <a:endParaRPr lang="es-ES" dirty="0"/>
        </a:p>
      </dgm:t>
    </dgm:pt>
    <dgm:pt modelId="{FE9AA071-F870-4228-9896-E68B7369AC18}" type="parTrans" cxnId="{C52273F1-F4FE-4704-BDCD-8F67551763C5}">
      <dgm:prSet/>
      <dgm:spPr/>
      <dgm:t>
        <a:bodyPr/>
        <a:lstStyle/>
        <a:p>
          <a:endParaRPr lang="es-ES"/>
        </a:p>
      </dgm:t>
    </dgm:pt>
    <dgm:pt modelId="{70B55B2A-463C-4179-98F1-AEB5C4C988D0}" type="sibTrans" cxnId="{C52273F1-F4FE-4704-BDCD-8F67551763C5}">
      <dgm:prSet/>
      <dgm:spPr/>
      <dgm:t>
        <a:bodyPr/>
        <a:lstStyle/>
        <a:p>
          <a:endParaRPr lang="es-ES"/>
        </a:p>
      </dgm:t>
    </dgm:pt>
    <dgm:pt modelId="{E6FA2FF3-C29D-42C7-8DAA-61567E4808F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Approved datasets promoted to main NDP catalog</a:t>
          </a:r>
        </a:p>
      </dgm:t>
    </dgm:pt>
    <dgm:pt modelId="{E4FE66C2-0B66-443A-BF4E-B5D5D3E708E1}" type="parTrans" cxnId="{BC16A059-910B-4D41-B96C-9B8060D4D37E}">
      <dgm:prSet/>
      <dgm:spPr/>
      <dgm:t>
        <a:bodyPr/>
        <a:lstStyle/>
        <a:p>
          <a:endParaRPr lang="es-ES"/>
        </a:p>
      </dgm:t>
    </dgm:pt>
    <dgm:pt modelId="{81862861-67DB-473A-8025-CBEBCF5534A7}" type="sibTrans" cxnId="{BC16A059-910B-4D41-B96C-9B8060D4D37E}">
      <dgm:prSet/>
      <dgm:spPr/>
      <dgm:t>
        <a:bodyPr/>
        <a:lstStyle/>
        <a:p>
          <a:endParaRPr lang="es-ES"/>
        </a:p>
      </dgm:t>
    </dgm:pt>
    <dgm:pt modelId="{E493A124-1928-4630-9A23-92E54DCFBBE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Publicly accessible to all platform users</a:t>
          </a:r>
        </a:p>
      </dgm:t>
    </dgm:pt>
    <dgm:pt modelId="{E344F9BA-2D8A-4A10-9F5D-94AA110E8375}" type="parTrans" cxnId="{DEC3FE43-C231-463D-B0AC-1162F0EA1D9A}">
      <dgm:prSet/>
      <dgm:spPr/>
      <dgm:t>
        <a:bodyPr/>
        <a:lstStyle/>
        <a:p>
          <a:endParaRPr lang="es-ES"/>
        </a:p>
      </dgm:t>
    </dgm:pt>
    <dgm:pt modelId="{FF2B6BE3-9EE5-46F2-8069-23C5110F088C}" type="sibTrans" cxnId="{DEC3FE43-C231-463D-B0AC-1162F0EA1D9A}">
      <dgm:prSet/>
      <dgm:spPr/>
      <dgm:t>
        <a:bodyPr/>
        <a:lstStyle/>
        <a:p>
          <a:endParaRPr lang="es-ES"/>
        </a:p>
      </dgm:t>
    </dgm:pt>
    <dgm:pt modelId="{24448683-140B-4F5A-ACA4-3645F0C05D7A}" type="pres">
      <dgm:prSet presAssocID="{6222B497-AF5E-4238-B485-9FBFE262FB54}" presName="Name0" presStyleCnt="0">
        <dgm:presLayoutVars>
          <dgm:dir/>
          <dgm:resizeHandles val="exact"/>
        </dgm:presLayoutVars>
      </dgm:prSet>
      <dgm:spPr/>
    </dgm:pt>
    <dgm:pt modelId="{02C74597-0ABF-4722-B56E-34BC09610B39}" type="pres">
      <dgm:prSet presAssocID="{33873620-0F31-46D4-BB14-286235C6335D}" presName="node" presStyleLbl="node1" presStyleIdx="0" presStyleCnt="3">
        <dgm:presLayoutVars>
          <dgm:bulletEnabled val="1"/>
        </dgm:presLayoutVars>
      </dgm:prSet>
      <dgm:spPr/>
    </dgm:pt>
    <dgm:pt modelId="{B8C12520-61E7-4803-AB64-916C2C5C4952}" type="pres">
      <dgm:prSet presAssocID="{376B5583-4727-48F0-A563-1DC29D4CBDA5}" presName="sibTrans" presStyleLbl="sibTrans2D1" presStyleIdx="0" presStyleCnt="2"/>
      <dgm:spPr/>
    </dgm:pt>
    <dgm:pt modelId="{A4FF04B0-1063-4B68-93D0-DCBDFCCAFF25}" type="pres">
      <dgm:prSet presAssocID="{376B5583-4727-48F0-A563-1DC29D4CBDA5}" presName="connectorText" presStyleLbl="sibTrans2D1" presStyleIdx="0" presStyleCnt="2"/>
      <dgm:spPr/>
    </dgm:pt>
    <dgm:pt modelId="{4D1167FF-7095-4C6F-A3D9-CE6BC5D5D8A0}" type="pres">
      <dgm:prSet presAssocID="{B87E6A15-38D1-4A65-8559-225634613025}" presName="node" presStyleLbl="node1" presStyleIdx="1" presStyleCnt="3">
        <dgm:presLayoutVars>
          <dgm:bulletEnabled val="1"/>
        </dgm:presLayoutVars>
      </dgm:prSet>
      <dgm:spPr/>
    </dgm:pt>
    <dgm:pt modelId="{57843DA5-E61C-4ABB-947D-44AAB51B53BF}" type="pres">
      <dgm:prSet presAssocID="{4F9FEAC5-AF87-4F3D-BF4C-B484C55D471C}" presName="sibTrans" presStyleLbl="sibTrans2D1" presStyleIdx="1" presStyleCnt="2"/>
      <dgm:spPr/>
    </dgm:pt>
    <dgm:pt modelId="{DCB223AF-6D5D-48B5-926D-2C60CDA42F5D}" type="pres">
      <dgm:prSet presAssocID="{4F9FEAC5-AF87-4F3D-BF4C-B484C55D471C}" presName="connectorText" presStyleLbl="sibTrans2D1" presStyleIdx="1" presStyleCnt="2"/>
      <dgm:spPr/>
    </dgm:pt>
    <dgm:pt modelId="{2320DD8C-EA69-4F71-987C-27B221C5641D}" type="pres">
      <dgm:prSet presAssocID="{0C747DF9-4C38-4307-A6A4-AC7DCE2569AC}" presName="node" presStyleLbl="node1" presStyleIdx="2" presStyleCnt="3">
        <dgm:presLayoutVars>
          <dgm:bulletEnabled val="1"/>
        </dgm:presLayoutVars>
      </dgm:prSet>
      <dgm:spPr/>
    </dgm:pt>
  </dgm:ptLst>
  <dgm:cxnLst>
    <dgm:cxn modelId="{31816600-C08C-4A0F-8A1E-6F0021F3A7D1}" type="presOf" srcId="{376B5583-4727-48F0-A563-1DC29D4CBDA5}" destId="{B8C12520-61E7-4803-AB64-916C2C5C4952}" srcOrd="0" destOrd="0" presId="urn:microsoft.com/office/officeart/2005/8/layout/process1"/>
    <dgm:cxn modelId="{230E430D-D1FF-4AE2-A609-9FA6FF511B77}" srcId="{6222B497-AF5E-4238-B485-9FBFE262FB54}" destId="{33873620-0F31-46D4-BB14-286235C6335D}" srcOrd="0" destOrd="0" parTransId="{A8B15F72-060A-4943-B248-D93F26B2903B}" sibTransId="{376B5583-4727-48F0-A563-1DC29D4CBDA5}"/>
    <dgm:cxn modelId="{23F02A11-FA0C-4616-89C9-B6D0C65A3FD6}" srcId="{0C099BF5-48BE-44E5-BB13-8B7C30B85826}" destId="{C63FFCE9-68A6-43A8-8806-18164B359C65}" srcOrd="2" destOrd="0" parTransId="{5B4C946F-5181-4FFE-A4B2-5D1924C5D90D}" sibTransId="{BD46992D-FCF0-448C-81D1-4344F3A39792}"/>
    <dgm:cxn modelId="{C914AF12-3854-4730-8FB0-00EFCD18381D}" type="presOf" srcId="{E6FA2FF3-C29D-42C7-8DAA-61567E4808FE}" destId="{2320DD8C-EA69-4F71-987C-27B221C5641D}" srcOrd="0" destOrd="2" presId="urn:microsoft.com/office/officeart/2005/8/layout/process1"/>
    <dgm:cxn modelId="{01D00E22-3DC5-4810-B28E-875EFFFF9679}" type="presOf" srcId="{E493A124-1928-4630-9A23-92E54DCFBBE6}" destId="{2320DD8C-EA69-4F71-987C-27B221C5641D}" srcOrd="0" destOrd="3" presId="urn:microsoft.com/office/officeart/2005/8/layout/process1"/>
    <dgm:cxn modelId="{3B375D37-6F16-4A86-911B-D3BE61A9EC1F}" type="presOf" srcId="{CC3E79D4-F67F-4E73-A039-697C47B30B46}" destId="{2320DD8C-EA69-4F71-987C-27B221C5641D}" srcOrd="0" destOrd="1" presId="urn:microsoft.com/office/officeart/2005/8/layout/process1"/>
    <dgm:cxn modelId="{A4071638-0CEC-4108-881A-265FC8F5C47E}" type="presOf" srcId="{4F9FEAC5-AF87-4F3D-BF4C-B484C55D471C}" destId="{57843DA5-E61C-4ABB-947D-44AAB51B53BF}" srcOrd="0" destOrd="0" presId="urn:microsoft.com/office/officeart/2005/8/layout/process1"/>
    <dgm:cxn modelId="{2030B93C-8EF8-45D7-AA48-8270AA0F5864}" type="presOf" srcId="{AB7648A0-030C-4F9F-9C6C-6959CB23EBF3}" destId="{02C74597-0ABF-4722-B56E-34BC09610B39}" srcOrd="0" destOrd="2" presId="urn:microsoft.com/office/officeart/2005/8/layout/process1"/>
    <dgm:cxn modelId="{0921733E-DA7D-40D2-96BB-ACD1B4C57664}" type="presOf" srcId="{6222B497-AF5E-4238-B485-9FBFE262FB54}" destId="{24448683-140B-4F5A-ACA4-3645F0C05D7A}" srcOrd="0" destOrd="0" presId="urn:microsoft.com/office/officeart/2005/8/layout/process1"/>
    <dgm:cxn modelId="{7C3EB861-8814-4550-A8ED-A07945BFB0A2}" srcId="{0C099BF5-48BE-44E5-BB13-8B7C30B85826}" destId="{0D12E805-7A81-42EE-AE40-BD66091FCC23}" srcOrd="1" destOrd="0" parTransId="{AB74EFB2-A74B-492A-A671-CEA760119C7C}" sibTransId="{9A203472-2941-4933-8C64-C8358DBE102C}"/>
    <dgm:cxn modelId="{DEC3FE43-C231-463D-B0AC-1162F0EA1D9A}" srcId="{CC3E79D4-F67F-4E73-A039-697C47B30B46}" destId="{E493A124-1928-4630-9A23-92E54DCFBBE6}" srcOrd="1" destOrd="0" parTransId="{E344F9BA-2D8A-4A10-9F5D-94AA110E8375}" sibTransId="{FF2B6BE3-9EE5-46F2-8069-23C5110F088C}"/>
    <dgm:cxn modelId="{D7506665-0480-4DDF-ADB1-9D52E33B6B8D}" type="presOf" srcId="{B86F11B5-107B-49E7-BC92-3DB2FD5AF7F4}" destId="{4D1167FF-7095-4C6F-A3D9-CE6BC5D5D8A0}" srcOrd="0" destOrd="3" presId="urn:microsoft.com/office/officeart/2005/8/layout/process1"/>
    <dgm:cxn modelId="{9D4FA96B-3349-4B4A-A1D5-84607B973AF2}" type="presOf" srcId="{0C099BF5-48BE-44E5-BB13-8B7C30B85826}" destId="{02C74597-0ABF-4722-B56E-34BC09610B39}" srcOrd="0" destOrd="1" presId="urn:microsoft.com/office/officeart/2005/8/layout/process1"/>
    <dgm:cxn modelId="{6ED2FC6E-85F9-4419-B66D-896C67A3CD30}" type="presOf" srcId="{F57396B2-EF67-4044-B939-9564BAE9B487}" destId="{4D1167FF-7095-4C6F-A3D9-CE6BC5D5D8A0}" srcOrd="0" destOrd="1" presId="urn:microsoft.com/office/officeart/2005/8/layout/process1"/>
    <dgm:cxn modelId="{6573FA71-3303-4FAD-A9A9-EA1C2A438135}" srcId="{F57396B2-EF67-4044-B939-9564BAE9B487}" destId="{E3153A55-6789-420F-AE49-B8C2BB0FF2A4}" srcOrd="0" destOrd="0" parTransId="{AD93C5B9-45EE-4114-B6A5-A549C139F585}" sibTransId="{196F0220-9D08-4FD0-B921-DFD64A2F1A68}"/>
    <dgm:cxn modelId="{A4C49579-7028-42D5-A737-32B4169FB0A1}" type="presOf" srcId="{4F9FEAC5-AF87-4F3D-BF4C-B484C55D471C}" destId="{DCB223AF-6D5D-48B5-926D-2C60CDA42F5D}" srcOrd="1" destOrd="0" presId="urn:microsoft.com/office/officeart/2005/8/layout/process1"/>
    <dgm:cxn modelId="{BC16A059-910B-4D41-B96C-9B8060D4D37E}" srcId="{CC3E79D4-F67F-4E73-A039-697C47B30B46}" destId="{E6FA2FF3-C29D-42C7-8DAA-61567E4808FE}" srcOrd="0" destOrd="0" parTransId="{E4FE66C2-0B66-443A-BF4E-B5D5D3E708E1}" sibTransId="{81862861-67DB-473A-8025-CBEBCF5534A7}"/>
    <dgm:cxn modelId="{C34DD185-D742-4628-803D-2F04113EF277}" type="presOf" srcId="{B87E6A15-38D1-4A65-8559-225634613025}" destId="{4D1167FF-7095-4C6F-A3D9-CE6BC5D5D8A0}" srcOrd="0" destOrd="0" presId="urn:microsoft.com/office/officeart/2005/8/layout/process1"/>
    <dgm:cxn modelId="{8F35118B-3C7B-4469-8FA8-0DA99F85B05F}" type="presOf" srcId="{C63FFCE9-68A6-43A8-8806-18164B359C65}" destId="{02C74597-0ABF-4722-B56E-34BC09610B39}" srcOrd="0" destOrd="4" presId="urn:microsoft.com/office/officeart/2005/8/layout/process1"/>
    <dgm:cxn modelId="{3B6E2391-356D-4849-839F-423B7B9441FD}" type="presOf" srcId="{376B5583-4727-48F0-A563-1DC29D4CBDA5}" destId="{A4FF04B0-1063-4B68-93D0-DCBDFCCAFF25}" srcOrd="1" destOrd="0" presId="urn:microsoft.com/office/officeart/2005/8/layout/process1"/>
    <dgm:cxn modelId="{72F93298-8A2F-49E3-AD46-C6F11B7EB733}" srcId="{33873620-0F31-46D4-BB14-286235C6335D}" destId="{0C099BF5-48BE-44E5-BB13-8B7C30B85826}" srcOrd="0" destOrd="0" parTransId="{7A0E3DA3-F10F-42DC-A454-A627322B995E}" sibTransId="{AEF4D5B1-4BBE-44B7-82D2-13815B550003}"/>
    <dgm:cxn modelId="{109FA19E-8420-43BE-A427-889821246BF8}" type="presOf" srcId="{0D12E805-7A81-42EE-AE40-BD66091FCC23}" destId="{02C74597-0ABF-4722-B56E-34BC09610B39}" srcOrd="0" destOrd="3" presId="urn:microsoft.com/office/officeart/2005/8/layout/process1"/>
    <dgm:cxn modelId="{8BACE2A0-3CBA-4F00-A946-4A70AD6F590B}" srcId="{6222B497-AF5E-4238-B485-9FBFE262FB54}" destId="{B87E6A15-38D1-4A65-8559-225634613025}" srcOrd="1" destOrd="0" parTransId="{A99D7640-52B9-4D30-A185-EBCCD22DBC40}" sibTransId="{4F9FEAC5-AF87-4F3D-BF4C-B484C55D471C}"/>
    <dgm:cxn modelId="{F31EA9A1-2A1F-4469-84BB-863B5DBD1762}" srcId="{6222B497-AF5E-4238-B485-9FBFE262FB54}" destId="{0C747DF9-4C38-4307-A6A4-AC7DCE2569AC}" srcOrd="2" destOrd="0" parTransId="{6EE541AD-091E-4241-A12E-E3F430307566}" sibTransId="{1CBE22AA-2C62-4995-961F-18544951B12B}"/>
    <dgm:cxn modelId="{415C8BA6-D002-4E8E-A548-1F14C6BAA0D5}" srcId="{F57396B2-EF67-4044-B939-9564BAE9B487}" destId="{B86F11B5-107B-49E7-BC92-3DB2FD5AF7F4}" srcOrd="1" destOrd="0" parTransId="{2E07524F-546D-41F5-9FC7-4649DAF3AB0C}" sibTransId="{79B1C5C6-7018-4A5A-BEC9-05450EA93138}"/>
    <dgm:cxn modelId="{D31AAAAC-7862-4F86-B5AA-43D627BC40D6}" type="presOf" srcId="{0C747DF9-4C38-4307-A6A4-AC7DCE2569AC}" destId="{2320DD8C-EA69-4F71-987C-27B221C5641D}" srcOrd="0" destOrd="0" presId="urn:microsoft.com/office/officeart/2005/8/layout/process1"/>
    <dgm:cxn modelId="{F67FF2D9-9A95-445F-9268-0263704983DA}" type="presOf" srcId="{E3153A55-6789-420F-AE49-B8C2BB0FF2A4}" destId="{4D1167FF-7095-4C6F-A3D9-CE6BC5D5D8A0}" srcOrd="0" destOrd="2" presId="urn:microsoft.com/office/officeart/2005/8/layout/process1"/>
    <dgm:cxn modelId="{598601E5-0B7F-4AC9-BB10-34163CE8A594}" srcId="{B87E6A15-38D1-4A65-8559-225634613025}" destId="{F57396B2-EF67-4044-B939-9564BAE9B487}" srcOrd="0" destOrd="0" parTransId="{3861C09F-D3B7-43C1-A4C8-9D4BD80D0850}" sibTransId="{82A8EE53-8441-466A-B981-8CEAC495051C}"/>
    <dgm:cxn modelId="{C52273F1-F4FE-4704-BDCD-8F67551763C5}" srcId="{0C747DF9-4C38-4307-A6A4-AC7DCE2569AC}" destId="{CC3E79D4-F67F-4E73-A039-697C47B30B46}" srcOrd="0" destOrd="0" parTransId="{FE9AA071-F870-4228-9896-E68B7369AC18}" sibTransId="{70B55B2A-463C-4179-98F1-AEB5C4C988D0}"/>
    <dgm:cxn modelId="{1AAA5AF5-AFCD-49FB-8819-23F63A2C157D}" srcId="{0C099BF5-48BE-44E5-BB13-8B7C30B85826}" destId="{AB7648A0-030C-4F9F-9C6C-6959CB23EBF3}" srcOrd="0" destOrd="0" parTransId="{BCF3B5E9-E433-4766-92D4-A4CC984C951D}" sibTransId="{5B3F1967-C236-4B7E-9A30-769EBDF42B78}"/>
    <dgm:cxn modelId="{2E7907F9-658A-4554-AFC4-9CE51EDB53F8}" type="presOf" srcId="{33873620-0F31-46D4-BB14-286235C6335D}" destId="{02C74597-0ABF-4722-B56E-34BC09610B39}" srcOrd="0" destOrd="0" presId="urn:microsoft.com/office/officeart/2005/8/layout/process1"/>
    <dgm:cxn modelId="{22593A47-9408-4A38-A12D-523BF599FBF3}" type="presParOf" srcId="{24448683-140B-4F5A-ACA4-3645F0C05D7A}" destId="{02C74597-0ABF-4722-B56E-34BC09610B39}" srcOrd="0" destOrd="0" presId="urn:microsoft.com/office/officeart/2005/8/layout/process1"/>
    <dgm:cxn modelId="{80FD5B26-89FB-43A2-BEE1-4F0F6A1FBDD6}" type="presParOf" srcId="{24448683-140B-4F5A-ACA4-3645F0C05D7A}" destId="{B8C12520-61E7-4803-AB64-916C2C5C4952}" srcOrd="1" destOrd="0" presId="urn:microsoft.com/office/officeart/2005/8/layout/process1"/>
    <dgm:cxn modelId="{FBD55124-A87E-4AD2-96A8-01DA16004BA1}" type="presParOf" srcId="{B8C12520-61E7-4803-AB64-916C2C5C4952}" destId="{A4FF04B0-1063-4B68-93D0-DCBDFCCAFF25}" srcOrd="0" destOrd="0" presId="urn:microsoft.com/office/officeart/2005/8/layout/process1"/>
    <dgm:cxn modelId="{60FC7333-4D2B-41FE-A341-B956EF5C2F49}" type="presParOf" srcId="{24448683-140B-4F5A-ACA4-3645F0C05D7A}" destId="{4D1167FF-7095-4C6F-A3D9-CE6BC5D5D8A0}" srcOrd="2" destOrd="0" presId="urn:microsoft.com/office/officeart/2005/8/layout/process1"/>
    <dgm:cxn modelId="{2EA2C2BB-C455-45B3-ADDA-90FBF002029A}" type="presParOf" srcId="{24448683-140B-4F5A-ACA4-3645F0C05D7A}" destId="{57843DA5-E61C-4ABB-947D-44AAB51B53BF}" srcOrd="3" destOrd="0" presId="urn:microsoft.com/office/officeart/2005/8/layout/process1"/>
    <dgm:cxn modelId="{13DACF42-5820-4158-82BC-B36DBBCA8E1E}" type="presParOf" srcId="{57843DA5-E61C-4ABB-947D-44AAB51B53BF}" destId="{DCB223AF-6D5D-48B5-926D-2C60CDA42F5D}" srcOrd="0" destOrd="0" presId="urn:microsoft.com/office/officeart/2005/8/layout/process1"/>
    <dgm:cxn modelId="{3F6F6330-8FFE-46B9-A8EC-281948BC9D1C}" type="presParOf" srcId="{24448683-140B-4F5A-ACA4-3645F0C05D7A}" destId="{2320DD8C-EA69-4F71-987C-27B221C5641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22B497-AF5E-4238-B485-9FBFE262FB54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33873620-0F31-46D4-BB14-286235C6335D}">
      <dgm:prSet phldrT="[Texto]"/>
      <dgm:spPr/>
      <dgm:t>
        <a:bodyPr/>
        <a:lstStyle/>
        <a:p>
          <a:pPr rtl="0">
            <a:buNone/>
          </a:pPr>
          <a:r>
            <a:rPr lang="es-ES" b="1" dirty="0">
              <a:latin typeface="Aptos Display" panose="02110004020202020204"/>
            </a:rPr>
            <a:t> </a:t>
          </a:r>
          <a:r>
            <a:rPr lang="es-ES" b="1" dirty="0" err="1">
              <a:latin typeface="Aptos Display" panose="02110004020202020204"/>
            </a:rPr>
            <a:t>Register</a:t>
          </a:r>
          <a:r>
            <a:rPr lang="es-ES" b="1" dirty="0">
              <a:latin typeface="Aptos Display" panose="02110004020202020204"/>
            </a:rPr>
            <a:t> a </a:t>
          </a:r>
          <a:r>
            <a:rPr lang="es-ES" sz="1800" b="1" dirty="0">
              <a:latin typeface="Aptos Display" panose="02110004020202020204"/>
            </a:rPr>
            <a:t>Service</a:t>
          </a:r>
        </a:p>
      </dgm:t>
    </dgm:pt>
    <dgm:pt modelId="{A8B15F72-060A-4943-B248-D93F26B2903B}" type="parTrans" cxnId="{230E430D-D1FF-4AE2-A609-9FA6FF511B77}">
      <dgm:prSet/>
      <dgm:spPr/>
      <dgm:t>
        <a:bodyPr/>
        <a:lstStyle/>
        <a:p>
          <a:endParaRPr lang="es-ES"/>
        </a:p>
      </dgm:t>
    </dgm:pt>
    <dgm:pt modelId="{376B5583-4727-48F0-A563-1DC29D4CBDA5}" type="sibTrans" cxnId="{230E430D-D1FF-4AE2-A609-9FA6FF511B77}">
      <dgm:prSet/>
      <dgm:spPr/>
      <dgm:t>
        <a:bodyPr/>
        <a:lstStyle/>
        <a:p>
          <a:endParaRPr lang="es-ES"/>
        </a:p>
      </dgm:t>
    </dgm:pt>
    <dgm:pt modelId="{C63FFCE9-68A6-43A8-8806-18164B359C65}">
      <dgm:prSet phldr="0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s-ES" sz="1000" dirty="0"/>
            <a:t>Additional metadata information</a:t>
          </a:r>
        </a:p>
      </dgm:t>
    </dgm:pt>
    <dgm:pt modelId="{5B4C946F-5181-4FFE-A4B2-5D1924C5D90D}" type="parTrans" cxnId="{23F02A11-FA0C-4616-89C9-B6D0C65A3FD6}">
      <dgm:prSet/>
      <dgm:spPr/>
      <dgm:t>
        <a:bodyPr/>
        <a:lstStyle/>
        <a:p>
          <a:endParaRPr lang="es-ES"/>
        </a:p>
      </dgm:t>
    </dgm:pt>
    <dgm:pt modelId="{BD46992D-FCF0-448C-81D1-4344F3A39792}" type="sibTrans" cxnId="{23F02A11-FA0C-4616-89C9-B6D0C65A3FD6}">
      <dgm:prSet/>
      <dgm:spPr/>
      <dgm:t>
        <a:bodyPr/>
        <a:lstStyle/>
        <a:p>
          <a:endParaRPr lang="es-ES"/>
        </a:p>
      </dgm:t>
    </dgm:pt>
    <dgm:pt modelId="{B87E6A15-38D1-4A65-8559-225634613025}">
      <dgm:prSet phldr="0"/>
      <dgm:spPr/>
      <dgm:t>
        <a:bodyPr/>
        <a:lstStyle/>
        <a:p>
          <a:pPr rtl="0">
            <a:buNone/>
          </a:pPr>
          <a:r>
            <a:rPr lang="en-US" b="1" dirty="0">
              <a:latin typeface="Aptos Display" panose="02110004020202020204"/>
            </a:rPr>
            <a:t>Use the Service</a:t>
          </a:r>
          <a:endParaRPr lang="en-US" b="1" dirty="0"/>
        </a:p>
      </dgm:t>
    </dgm:pt>
    <dgm:pt modelId="{A99D7640-52B9-4D30-A185-EBCCD22DBC40}" type="parTrans" cxnId="{8BACE2A0-3CBA-4F00-A946-4A70AD6F590B}">
      <dgm:prSet/>
      <dgm:spPr/>
      <dgm:t>
        <a:bodyPr/>
        <a:lstStyle/>
        <a:p>
          <a:endParaRPr lang="es-ES"/>
        </a:p>
      </dgm:t>
    </dgm:pt>
    <dgm:pt modelId="{4F9FEAC5-AF87-4F3D-BF4C-B484C55D471C}" type="sibTrans" cxnId="{8BACE2A0-3CBA-4F00-A946-4A70AD6F590B}">
      <dgm:prSet/>
      <dgm:spPr/>
      <dgm:t>
        <a:bodyPr/>
        <a:lstStyle/>
        <a:p>
          <a:endParaRPr lang="es-ES"/>
        </a:p>
      </dgm:t>
    </dgm:pt>
    <dgm:pt modelId="{0C747DF9-4C38-4307-A6A4-AC7DCE2569AC}">
      <dgm:prSet/>
      <dgm:spPr/>
      <dgm:t>
        <a:bodyPr/>
        <a:lstStyle/>
        <a:p>
          <a:pPr rtl="0">
            <a:buNone/>
          </a:pPr>
          <a:r>
            <a:rPr lang="es-ES" sz="2200" b="1" dirty="0">
              <a:latin typeface="Aptos Display" panose="02110004020202020204"/>
            </a:rPr>
            <a:t> </a:t>
          </a:r>
          <a:r>
            <a:rPr lang="es-ES" sz="2200" b="0" dirty="0"/>
            <a:t>Publish to NDP Central Catalog</a:t>
          </a:r>
          <a:endParaRPr lang="es-ES" b="0" dirty="0"/>
        </a:p>
      </dgm:t>
    </dgm:pt>
    <dgm:pt modelId="{6EE541AD-091E-4241-A12E-E3F430307566}" type="parTrans" cxnId="{F31EA9A1-2A1F-4469-84BB-863B5DBD1762}">
      <dgm:prSet/>
      <dgm:spPr/>
      <dgm:t>
        <a:bodyPr/>
        <a:lstStyle/>
        <a:p>
          <a:endParaRPr lang="es-ES"/>
        </a:p>
      </dgm:t>
    </dgm:pt>
    <dgm:pt modelId="{1CBE22AA-2C62-4995-961F-18544951B12B}" type="sibTrans" cxnId="{F31EA9A1-2A1F-4469-84BB-863B5DBD1762}">
      <dgm:prSet/>
      <dgm:spPr/>
      <dgm:t>
        <a:bodyPr/>
        <a:lstStyle/>
        <a:p>
          <a:endParaRPr lang="es-ES"/>
        </a:p>
      </dgm:t>
    </dgm:pt>
    <dgm:pt modelId="{5872F642-678F-44A3-ACD5-2065E8FBE520}">
      <dgm:prSet phldr="0"/>
      <dgm:spPr/>
      <dgm:t>
        <a:bodyPr/>
        <a:lstStyle/>
        <a:p>
          <a:pPr rtl="0"/>
          <a:r>
            <a:rPr lang="es-ES" sz="1400" b="0" dirty="0"/>
            <a:t>Once the service is registered in the system, users can access all its functionalities through the END-EP service proxy</a:t>
          </a:r>
        </a:p>
      </dgm:t>
    </dgm:pt>
    <dgm:pt modelId="{C1A7DCD3-57F3-4190-81C8-3C36E9B45034}" type="parTrans" cxnId="{49C6762C-E89B-4C24-A724-EC16DB573B2B}">
      <dgm:prSet/>
      <dgm:spPr/>
    </dgm:pt>
    <dgm:pt modelId="{FD02650C-7005-480C-B685-6AF4311D8751}" type="sibTrans" cxnId="{49C6762C-E89B-4C24-A724-EC16DB573B2B}">
      <dgm:prSet/>
      <dgm:spPr/>
      <dgm:t>
        <a:bodyPr/>
        <a:lstStyle/>
        <a:p>
          <a:endParaRPr lang="en-US"/>
        </a:p>
      </dgm:t>
    </dgm:pt>
    <dgm:pt modelId="{6B1A5AD7-84B9-4730-978A-5F36173547C9}">
      <dgm:prSet phldr="0"/>
      <dgm:spPr/>
      <dgm:t>
        <a:bodyPr/>
        <a:lstStyle/>
        <a:p>
          <a:pPr rtl="0"/>
          <a:r>
            <a:rPr lang="es-ES" sz="1800" b="1" dirty="0">
              <a:latin typeface="Aptos Display" panose="02110004020202020204"/>
            </a:rPr>
            <a:t> </a:t>
          </a:r>
          <a:r>
            <a:rPr lang="es-ES" sz="1800" b="0" dirty="0"/>
            <a:t>Register Service to Pre-CKAN</a:t>
          </a:r>
        </a:p>
      </dgm:t>
    </dgm:pt>
    <dgm:pt modelId="{7667B154-552D-4097-BDDA-C2C2BAFEE193}" type="parTrans" cxnId="{423A36B0-58FB-499D-A875-CA268DDAF5E6}">
      <dgm:prSet/>
      <dgm:spPr/>
    </dgm:pt>
    <dgm:pt modelId="{E94121DA-8AC3-448E-A59F-796CC16C7161}" type="sibTrans" cxnId="{423A36B0-58FB-499D-A875-CA268DDAF5E6}">
      <dgm:prSet/>
      <dgm:spPr/>
      <dgm:t>
        <a:bodyPr/>
        <a:lstStyle/>
        <a:p>
          <a:endParaRPr lang="en-US"/>
        </a:p>
      </dgm:t>
    </dgm:pt>
    <dgm:pt modelId="{90F7D178-8CB1-4B36-9B2E-20ED3075BDD7}">
      <dgm:prSet phldr="0"/>
      <dgm:spPr/>
      <dgm:t>
        <a:bodyPr/>
        <a:lstStyle/>
        <a:p>
          <a:pPr algn="l"/>
          <a:r>
            <a:rPr lang="es-ES" sz="600" dirty="0"/>
            <a:t>Service URL</a:t>
          </a:r>
        </a:p>
      </dgm:t>
    </dgm:pt>
    <dgm:pt modelId="{ED5F844B-3830-41EC-817A-AAD4444CEE95}" type="parTrans" cxnId="{1F663D80-DB7A-4241-8913-C5FBC611C864}">
      <dgm:prSet/>
      <dgm:spPr/>
    </dgm:pt>
    <dgm:pt modelId="{EA34DDCF-F821-407B-A09A-E092D339E7B9}" type="sibTrans" cxnId="{1F663D80-DB7A-4241-8913-C5FBC611C864}">
      <dgm:prSet/>
      <dgm:spPr/>
      <dgm:t>
        <a:bodyPr/>
        <a:lstStyle/>
        <a:p>
          <a:endParaRPr lang="en-US"/>
        </a:p>
      </dgm:t>
    </dgm:pt>
    <dgm:pt modelId="{A5F58A48-1DCA-4A97-B396-1025BF3B0A34}">
      <dgm:prSet phldr="0"/>
      <dgm:spPr/>
      <dgm:t>
        <a:bodyPr/>
        <a:lstStyle/>
        <a:p>
          <a:pPr algn="l"/>
          <a:r>
            <a:rPr lang="es-ES" sz="1000" dirty="0"/>
            <a:t>Service identification name</a:t>
          </a:r>
        </a:p>
      </dgm:t>
    </dgm:pt>
    <dgm:pt modelId="{082C6271-D2CA-4B8D-B53E-155FD5AD9612}" type="parTrans" cxnId="{C39770F9-1CAF-4D4C-B733-7C815CB13C3E}">
      <dgm:prSet/>
      <dgm:spPr/>
    </dgm:pt>
    <dgm:pt modelId="{53332421-B7A9-4136-AE16-07909E205E3D}" type="sibTrans" cxnId="{C39770F9-1CAF-4D4C-B733-7C815CB13C3E}">
      <dgm:prSet/>
      <dgm:spPr/>
      <dgm:t>
        <a:bodyPr/>
        <a:lstStyle/>
        <a:p>
          <a:endParaRPr lang="en-US"/>
        </a:p>
      </dgm:t>
    </dgm:pt>
    <dgm:pt modelId="{489E4511-7251-4257-9CE2-30BAE87171C6}">
      <dgm:prSet phldr="0"/>
      <dgm:spPr/>
      <dgm:t>
        <a:bodyPr/>
        <a:lstStyle/>
        <a:p>
          <a:pPr rtl="0"/>
          <a:r>
            <a:rPr lang="es-ES" sz="1800" b="0" dirty="0" err="1">
              <a:latin typeface="Aptos Display" panose="02110004020202020204"/>
            </a:rPr>
            <a:t>User</a:t>
          </a:r>
          <a:r>
            <a:rPr lang="es-ES" sz="1800" dirty="0"/>
            <a:t> </a:t>
          </a:r>
          <a:r>
            <a:rPr lang="es-ES" sz="1800" dirty="0" err="1"/>
            <a:t>registers</a:t>
          </a:r>
          <a:r>
            <a:rPr lang="es-ES" sz="1800" dirty="0"/>
            <a:t> </a:t>
          </a:r>
          <a:r>
            <a:rPr lang="es-ES" sz="1800" dirty="0" err="1"/>
            <a:t>the</a:t>
          </a:r>
          <a:r>
            <a:rPr lang="es-ES" sz="1800" dirty="0"/>
            <a:t> </a:t>
          </a:r>
          <a:r>
            <a:rPr lang="es-ES" sz="1800" dirty="0" err="1"/>
            <a:t>service</a:t>
          </a:r>
          <a:r>
            <a:rPr lang="es-ES" sz="1800" dirty="0">
              <a:latin typeface="Aptos Display" panose="02110004020202020204"/>
            </a:rPr>
            <a:t> in </a:t>
          </a:r>
          <a:r>
            <a:rPr lang="es-ES" sz="1800" dirty="0" err="1">
              <a:latin typeface="Aptos Display" panose="02110004020202020204"/>
            </a:rPr>
            <a:t>the</a:t>
          </a:r>
          <a:r>
            <a:rPr lang="es-ES" sz="1800" dirty="0">
              <a:latin typeface="Aptos Display" panose="02110004020202020204"/>
            </a:rPr>
            <a:t> local CKAN  </a:t>
          </a:r>
          <a:r>
            <a:rPr lang="es-ES" sz="1800" dirty="0" err="1">
              <a:latin typeface="Aptos Display" panose="02110004020202020204"/>
            </a:rPr>
            <a:t>instance</a:t>
          </a:r>
          <a:r>
            <a:rPr lang="es-ES" sz="1800" dirty="0">
              <a:latin typeface="Aptos Display" panose="02110004020202020204"/>
            </a:rPr>
            <a:t>  </a:t>
          </a:r>
          <a:r>
            <a:rPr lang="es-ES" sz="1800" dirty="0" err="1"/>
            <a:t>by</a:t>
          </a:r>
          <a:r>
            <a:rPr lang="es-ES" sz="1800" dirty="0"/>
            <a:t> </a:t>
          </a:r>
          <a:r>
            <a:rPr lang="es-ES" sz="1800" dirty="0" err="1"/>
            <a:t>providing</a:t>
          </a:r>
          <a:r>
            <a:rPr lang="es-ES" sz="1800" dirty="0"/>
            <a:t>: </a:t>
          </a:r>
          <a:endParaRPr lang="en-US" sz="1800" dirty="0"/>
        </a:p>
      </dgm:t>
    </dgm:pt>
    <dgm:pt modelId="{608B14CA-AFE2-4D6A-8612-C40F72DB642E}" type="parTrans" cxnId="{709160C1-B0B4-4776-B856-1D9FB7C2007F}">
      <dgm:prSet/>
      <dgm:spPr/>
    </dgm:pt>
    <dgm:pt modelId="{6FFD1868-AAEF-4A62-9AB3-08B18AE2DE80}" type="sibTrans" cxnId="{709160C1-B0B4-4776-B856-1D9FB7C2007F}">
      <dgm:prSet/>
      <dgm:spPr/>
      <dgm:t>
        <a:bodyPr/>
        <a:lstStyle/>
        <a:p>
          <a:endParaRPr lang="en-US"/>
        </a:p>
      </dgm:t>
    </dgm:pt>
    <dgm:pt modelId="{24448683-140B-4F5A-ACA4-3645F0C05D7A}" type="pres">
      <dgm:prSet presAssocID="{6222B497-AF5E-4238-B485-9FBFE262FB54}" presName="Name0" presStyleCnt="0">
        <dgm:presLayoutVars>
          <dgm:dir/>
          <dgm:resizeHandles val="exact"/>
        </dgm:presLayoutVars>
      </dgm:prSet>
      <dgm:spPr/>
    </dgm:pt>
    <dgm:pt modelId="{02C74597-0ABF-4722-B56E-34BC09610B39}" type="pres">
      <dgm:prSet presAssocID="{33873620-0F31-46D4-BB14-286235C6335D}" presName="node" presStyleLbl="node1" presStyleIdx="0" presStyleCnt="4">
        <dgm:presLayoutVars>
          <dgm:bulletEnabled val="1"/>
        </dgm:presLayoutVars>
      </dgm:prSet>
      <dgm:spPr/>
    </dgm:pt>
    <dgm:pt modelId="{B8C12520-61E7-4803-AB64-916C2C5C4952}" type="pres">
      <dgm:prSet presAssocID="{376B5583-4727-48F0-A563-1DC29D4CBDA5}" presName="sibTrans" presStyleLbl="sibTrans2D1" presStyleIdx="0" presStyleCnt="3"/>
      <dgm:spPr/>
    </dgm:pt>
    <dgm:pt modelId="{A4FF04B0-1063-4B68-93D0-DCBDFCCAFF25}" type="pres">
      <dgm:prSet presAssocID="{376B5583-4727-48F0-A563-1DC29D4CBDA5}" presName="connectorText" presStyleLbl="sibTrans2D1" presStyleIdx="0" presStyleCnt="3"/>
      <dgm:spPr/>
    </dgm:pt>
    <dgm:pt modelId="{4D1167FF-7095-4C6F-A3D9-CE6BC5D5D8A0}" type="pres">
      <dgm:prSet presAssocID="{B87E6A15-38D1-4A65-8559-225634613025}" presName="node" presStyleLbl="node1" presStyleIdx="1" presStyleCnt="4">
        <dgm:presLayoutVars>
          <dgm:bulletEnabled val="1"/>
        </dgm:presLayoutVars>
      </dgm:prSet>
      <dgm:spPr/>
    </dgm:pt>
    <dgm:pt modelId="{57843DA5-E61C-4ABB-947D-44AAB51B53BF}" type="pres">
      <dgm:prSet presAssocID="{4F9FEAC5-AF87-4F3D-BF4C-B484C55D471C}" presName="sibTrans" presStyleLbl="sibTrans2D1" presStyleIdx="1" presStyleCnt="3"/>
      <dgm:spPr/>
    </dgm:pt>
    <dgm:pt modelId="{DCB223AF-6D5D-48B5-926D-2C60CDA42F5D}" type="pres">
      <dgm:prSet presAssocID="{4F9FEAC5-AF87-4F3D-BF4C-B484C55D471C}" presName="connectorText" presStyleLbl="sibTrans2D1" presStyleIdx="1" presStyleCnt="3"/>
      <dgm:spPr/>
    </dgm:pt>
    <dgm:pt modelId="{6C173BE3-6415-47D3-8A33-904EF23322FB}" type="pres">
      <dgm:prSet presAssocID="{6B1A5AD7-84B9-4730-978A-5F36173547C9}" presName="node" presStyleLbl="node1" presStyleIdx="2" presStyleCnt="4">
        <dgm:presLayoutVars>
          <dgm:bulletEnabled val="1"/>
        </dgm:presLayoutVars>
      </dgm:prSet>
      <dgm:spPr/>
    </dgm:pt>
    <dgm:pt modelId="{6DA92F0F-90C3-4CAD-BD42-32453354B9F9}" type="pres">
      <dgm:prSet presAssocID="{E94121DA-8AC3-448E-A59F-796CC16C7161}" presName="sibTrans" presStyleLbl="sibTrans2D1" presStyleIdx="2" presStyleCnt="3"/>
      <dgm:spPr/>
    </dgm:pt>
    <dgm:pt modelId="{2BFD4595-B086-4862-9F18-66B075978F9A}" type="pres">
      <dgm:prSet presAssocID="{E94121DA-8AC3-448E-A59F-796CC16C7161}" presName="connectorText" presStyleLbl="sibTrans2D1" presStyleIdx="2" presStyleCnt="3"/>
      <dgm:spPr/>
    </dgm:pt>
    <dgm:pt modelId="{2320DD8C-EA69-4F71-987C-27B221C5641D}" type="pres">
      <dgm:prSet presAssocID="{0C747DF9-4C38-4307-A6A4-AC7DCE2569AC}" presName="node" presStyleLbl="node1" presStyleIdx="3" presStyleCnt="4">
        <dgm:presLayoutVars>
          <dgm:bulletEnabled val="1"/>
        </dgm:presLayoutVars>
      </dgm:prSet>
      <dgm:spPr/>
    </dgm:pt>
  </dgm:ptLst>
  <dgm:cxnLst>
    <dgm:cxn modelId="{1DA66303-4F02-49E8-AD1F-176EE9EBB90F}" type="presOf" srcId="{4F9FEAC5-AF87-4F3D-BF4C-B484C55D471C}" destId="{57843DA5-E61C-4ABB-947D-44AAB51B53BF}" srcOrd="0" destOrd="0" presId="urn:microsoft.com/office/officeart/2005/8/layout/process1"/>
    <dgm:cxn modelId="{68F6BC06-5FD6-4D0A-8301-4410C01B9400}" type="presOf" srcId="{489E4511-7251-4257-9CE2-30BAE87171C6}" destId="{02C74597-0ABF-4722-B56E-34BC09610B39}" srcOrd="0" destOrd="1" presId="urn:microsoft.com/office/officeart/2005/8/layout/process1"/>
    <dgm:cxn modelId="{230E430D-D1FF-4AE2-A609-9FA6FF511B77}" srcId="{6222B497-AF5E-4238-B485-9FBFE262FB54}" destId="{33873620-0F31-46D4-BB14-286235C6335D}" srcOrd="0" destOrd="0" parTransId="{A8B15F72-060A-4943-B248-D93F26B2903B}" sibTransId="{376B5583-4727-48F0-A563-1DC29D4CBDA5}"/>
    <dgm:cxn modelId="{23F02A11-FA0C-4616-89C9-B6D0C65A3FD6}" srcId="{489E4511-7251-4257-9CE2-30BAE87171C6}" destId="{C63FFCE9-68A6-43A8-8806-18164B359C65}" srcOrd="2" destOrd="0" parTransId="{5B4C946F-5181-4FFE-A4B2-5D1924C5D90D}" sibTransId="{BD46992D-FCF0-448C-81D1-4344F3A39792}"/>
    <dgm:cxn modelId="{79FF5912-311C-4338-A3B2-ECE56958C521}" type="presOf" srcId="{376B5583-4727-48F0-A563-1DC29D4CBDA5}" destId="{A4FF04B0-1063-4B68-93D0-DCBDFCCAFF25}" srcOrd="1" destOrd="0" presId="urn:microsoft.com/office/officeart/2005/8/layout/process1"/>
    <dgm:cxn modelId="{D08EA72A-40A1-45DC-B045-7C6B68ADA9B3}" type="presOf" srcId="{4F9FEAC5-AF87-4F3D-BF4C-B484C55D471C}" destId="{DCB223AF-6D5D-48B5-926D-2C60CDA42F5D}" srcOrd="1" destOrd="0" presId="urn:microsoft.com/office/officeart/2005/8/layout/process1"/>
    <dgm:cxn modelId="{49C6762C-E89B-4C24-A724-EC16DB573B2B}" srcId="{B87E6A15-38D1-4A65-8559-225634613025}" destId="{5872F642-678F-44A3-ACD5-2065E8FBE520}" srcOrd="0" destOrd="0" parTransId="{C1A7DCD3-57F3-4190-81C8-3C36E9B45034}" sibTransId="{FD02650C-7005-480C-B685-6AF4311D8751}"/>
    <dgm:cxn modelId="{0921733E-DA7D-40D2-96BB-ACD1B4C57664}" type="presOf" srcId="{6222B497-AF5E-4238-B485-9FBFE262FB54}" destId="{24448683-140B-4F5A-ACA4-3645F0C05D7A}" srcOrd="0" destOrd="0" presId="urn:microsoft.com/office/officeart/2005/8/layout/process1"/>
    <dgm:cxn modelId="{C88E9D3E-20B0-4854-991A-10B23F643CB0}" type="presOf" srcId="{C63FFCE9-68A6-43A8-8806-18164B359C65}" destId="{02C74597-0ABF-4722-B56E-34BC09610B39}" srcOrd="0" destOrd="4" presId="urn:microsoft.com/office/officeart/2005/8/layout/process1"/>
    <dgm:cxn modelId="{9E6BB63E-FB84-4D47-874B-E4B37EABE7F1}" type="presOf" srcId="{6B1A5AD7-84B9-4730-978A-5F36173547C9}" destId="{6C173BE3-6415-47D3-8A33-904EF23322FB}" srcOrd="0" destOrd="0" presId="urn:microsoft.com/office/officeart/2005/8/layout/process1"/>
    <dgm:cxn modelId="{19136144-2760-4137-A24C-FFE5A215B7C0}" type="presOf" srcId="{90F7D178-8CB1-4B36-9B2E-20ED3075BDD7}" destId="{02C74597-0ABF-4722-B56E-34BC09610B39}" srcOrd="0" destOrd="2" presId="urn:microsoft.com/office/officeart/2005/8/layout/process1"/>
    <dgm:cxn modelId="{9EF5C36B-7CE1-4006-8F0A-CE04F8416CDB}" type="presOf" srcId="{5872F642-678F-44A3-ACD5-2065E8FBE520}" destId="{4D1167FF-7095-4C6F-A3D9-CE6BC5D5D8A0}" srcOrd="0" destOrd="1" presId="urn:microsoft.com/office/officeart/2005/8/layout/process1"/>
    <dgm:cxn modelId="{C140A973-3883-4813-A88D-1173260B5645}" type="presOf" srcId="{33873620-0F31-46D4-BB14-286235C6335D}" destId="{02C74597-0ABF-4722-B56E-34BC09610B39}" srcOrd="0" destOrd="0" presId="urn:microsoft.com/office/officeart/2005/8/layout/process1"/>
    <dgm:cxn modelId="{0B07FF73-4E34-4964-8DE8-79E34A254258}" type="presOf" srcId="{B87E6A15-38D1-4A65-8559-225634613025}" destId="{4D1167FF-7095-4C6F-A3D9-CE6BC5D5D8A0}" srcOrd="0" destOrd="0" presId="urn:microsoft.com/office/officeart/2005/8/layout/process1"/>
    <dgm:cxn modelId="{13E29957-CA81-4EAD-8CEE-F8FA49520453}" type="presOf" srcId="{0C747DF9-4C38-4307-A6A4-AC7DCE2569AC}" destId="{2320DD8C-EA69-4F71-987C-27B221C5641D}" srcOrd="0" destOrd="0" presId="urn:microsoft.com/office/officeart/2005/8/layout/process1"/>
    <dgm:cxn modelId="{1F663D80-DB7A-4241-8913-C5FBC611C864}" srcId="{489E4511-7251-4257-9CE2-30BAE87171C6}" destId="{90F7D178-8CB1-4B36-9B2E-20ED3075BDD7}" srcOrd="0" destOrd="0" parTransId="{ED5F844B-3830-41EC-817A-AAD4444CEE95}" sibTransId="{EA34DDCF-F821-407B-A09A-E092D339E7B9}"/>
    <dgm:cxn modelId="{B22FDE91-873A-4C08-8F98-0EE0882D06B6}" type="presOf" srcId="{E94121DA-8AC3-448E-A59F-796CC16C7161}" destId="{2BFD4595-B086-4862-9F18-66B075978F9A}" srcOrd="1" destOrd="0" presId="urn:microsoft.com/office/officeart/2005/8/layout/process1"/>
    <dgm:cxn modelId="{8BACE2A0-3CBA-4F00-A946-4A70AD6F590B}" srcId="{6222B497-AF5E-4238-B485-9FBFE262FB54}" destId="{B87E6A15-38D1-4A65-8559-225634613025}" srcOrd="1" destOrd="0" parTransId="{A99D7640-52B9-4D30-A185-EBCCD22DBC40}" sibTransId="{4F9FEAC5-AF87-4F3D-BF4C-B484C55D471C}"/>
    <dgm:cxn modelId="{F31EA9A1-2A1F-4469-84BB-863B5DBD1762}" srcId="{6222B497-AF5E-4238-B485-9FBFE262FB54}" destId="{0C747DF9-4C38-4307-A6A4-AC7DCE2569AC}" srcOrd="3" destOrd="0" parTransId="{6EE541AD-091E-4241-A12E-E3F430307566}" sibTransId="{1CBE22AA-2C62-4995-961F-18544951B12B}"/>
    <dgm:cxn modelId="{C4480EA4-242B-4C7E-A280-847849B9883E}" type="presOf" srcId="{A5F58A48-1DCA-4A97-B396-1025BF3B0A34}" destId="{02C74597-0ABF-4722-B56E-34BC09610B39}" srcOrd="0" destOrd="3" presId="urn:microsoft.com/office/officeart/2005/8/layout/process1"/>
    <dgm:cxn modelId="{423A36B0-58FB-499D-A875-CA268DDAF5E6}" srcId="{6222B497-AF5E-4238-B485-9FBFE262FB54}" destId="{6B1A5AD7-84B9-4730-978A-5F36173547C9}" srcOrd="2" destOrd="0" parTransId="{7667B154-552D-4097-BDDA-C2C2BAFEE193}" sibTransId="{E94121DA-8AC3-448E-A59F-796CC16C7161}"/>
    <dgm:cxn modelId="{1D7C87B6-A7B0-4336-9E56-E363162AF432}" type="presOf" srcId="{376B5583-4727-48F0-A563-1DC29D4CBDA5}" destId="{B8C12520-61E7-4803-AB64-916C2C5C4952}" srcOrd="0" destOrd="0" presId="urn:microsoft.com/office/officeart/2005/8/layout/process1"/>
    <dgm:cxn modelId="{709160C1-B0B4-4776-B856-1D9FB7C2007F}" srcId="{33873620-0F31-46D4-BB14-286235C6335D}" destId="{489E4511-7251-4257-9CE2-30BAE87171C6}" srcOrd="0" destOrd="0" parTransId="{608B14CA-AFE2-4D6A-8612-C40F72DB642E}" sibTransId="{6FFD1868-AAEF-4A62-9AB3-08B18AE2DE80}"/>
    <dgm:cxn modelId="{C39770F9-1CAF-4D4C-B733-7C815CB13C3E}" srcId="{489E4511-7251-4257-9CE2-30BAE87171C6}" destId="{A5F58A48-1DCA-4A97-B396-1025BF3B0A34}" srcOrd="1" destOrd="0" parTransId="{082C6271-D2CA-4B8D-B53E-155FD5AD9612}" sibTransId="{53332421-B7A9-4136-AE16-07909E205E3D}"/>
    <dgm:cxn modelId="{C8336EFD-4A8A-40D4-811B-4747089AA63F}" type="presOf" srcId="{E94121DA-8AC3-448E-A59F-796CC16C7161}" destId="{6DA92F0F-90C3-4CAD-BD42-32453354B9F9}" srcOrd="0" destOrd="0" presId="urn:microsoft.com/office/officeart/2005/8/layout/process1"/>
    <dgm:cxn modelId="{F45A069F-D60E-44D3-92CB-33CAF6141E47}" type="presParOf" srcId="{24448683-140B-4F5A-ACA4-3645F0C05D7A}" destId="{02C74597-0ABF-4722-B56E-34BC09610B39}" srcOrd="0" destOrd="0" presId="urn:microsoft.com/office/officeart/2005/8/layout/process1"/>
    <dgm:cxn modelId="{B9F1E6B8-9687-48BE-9389-262C8980A7D3}" type="presParOf" srcId="{24448683-140B-4F5A-ACA4-3645F0C05D7A}" destId="{B8C12520-61E7-4803-AB64-916C2C5C4952}" srcOrd="1" destOrd="0" presId="urn:microsoft.com/office/officeart/2005/8/layout/process1"/>
    <dgm:cxn modelId="{E9EA0EBA-F46C-4303-ACCA-7EAC99EE5275}" type="presParOf" srcId="{B8C12520-61E7-4803-AB64-916C2C5C4952}" destId="{A4FF04B0-1063-4B68-93D0-DCBDFCCAFF25}" srcOrd="0" destOrd="0" presId="urn:microsoft.com/office/officeart/2005/8/layout/process1"/>
    <dgm:cxn modelId="{6711662A-2E31-4072-9A7D-065572EA4BA4}" type="presParOf" srcId="{24448683-140B-4F5A-ACA4-3645F0C05D7A}" destId="{4D1167FF-7095-4C6F-A3D9-CE6BC5D5D8A0}" srcOrd="2" destOrd="0" presId="urn:microsoft.com/office/officeart/2005/8/layout/process1"/>
    <dgm:cxn modelId="{E267156C-5A56-4B00-8536-C9E79F9AC34A}" type="presParOf" srcId="{24448683-140B-4F5A-ACA4-3645F0C05D7A}" destId="{57843DA5-E61C-4ABB-947D-44AAB51B53BF}" srcOrd="3" destOrd="0" presId="urn:microsoft.com/office/officeart/2005/8/layout/process1"/>
    <dgm:cxn modelId="{C0A7A228-800B-433C-8786-DFA0E3C473CE}" type="presParOf" srcId="{57843DA5-E61C-4ABB-947D-44AAB51B53BF}" destId="{DCB223AF-6D5D-48B5-926D-2C60CDA42F5D}" srcOrd="0" destOrd="0" presId="urn:microsoft.com/office/officeart/2005/8/layout/process1"/>
    <dgm:cxn modelId="{8FF14081-CCCD-41DB-90D0-FFFB755B18DE}" type="presParOf" srcId="{24448683-140B-4F5A-ACA4-3645F0C05D7A}" destId="{6C173BE3-6415-47D3-8A33-904EF23322FB}" srcOrd="4" destOrd="0" presId="urn:microsoft.com/office/officeart/2005/8/layout/process1"/>
    <dgm:cxn modelId="{1C34E62F-A6F8-441F-A567-952752DA19ED}" type="presParOf" srcId="{24448683-140B-4F5A-ACA4-3645F0C05D7A}" destId="{6DA92F0F-90C3-4CAD-BD42-32453354B9F9}" srcOrd="5" destOrd="0" presId="urn:microsoft.com/office/officeart/2005/8/layout/process1"/>
    <dgm:cxn modelId="{E89A7EBF-6A15-4FC0-9845-29BB01393C5A}" type="presParOf" srcId="{6DA92F0F-90C3-4CAD-BD42-32453354B9F9}" destId="{2BFD4595-B086-4862-9F18-66B075978F9A}" srcOrd="0" destOrd="0" presId="urn:microsoft.com/office/officeart/2005/8/layout/process1"/>
    <dgm:cxn modelId="{892B9908-5A8B-4A7F-8901-BBF0E59A30B5}" type="presParOf" srcId="{24448683-140B-4F5A-ACA4-3645F0C05D7A}" destId="{2320DD8C-EA69-4F71-987C-27B221C5641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74597-0ABF-4722-B56E-34BC09610B39}">
      <dsp:nvSpPr>
        <dsp:cNvPr id="0" name=""/>
        <dsp:cNvSpPr/>
      </dsp:nvSpPr>
      <dsp:spPr>
        <a:xfrm>
          <a:off x="9326" y="1559464"/>
          <a:ext cx="2787560" cy="22997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Local </a:t>
          </a:r>
          <a:r>
            <a:rPr lang="es-ES" sz="1800" b="1" kern="1200" dirty="0" err="1"/>
            <a:t>Development</a:t>
          </a:r>
          <a:endParaRPr lang="es-ES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b="1" kern="1200" dirty="0"/>
            <a:t>Local CKAN </a:t>
          </a:r>
          <a:r>
            <a:rPr lang="es-ES" sz="1400" b="1" kern="1200" dirty="0" err="1"/>
            <a:t>Instance</a:t>
          </a:r>
          <a:endParaRPr lang="es-E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User registers and develops dataset in their own CKAN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Full control: create, update, test, and refine data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Private workspace for experimentation and preparation</a:t>
          </a:r>
        </a:p>
      </dsp:txBody>
      <dsp:txXfrm>
        <a:off x="76683" y="1626821"/>
        <a:ext cx="2652846" cy="2165023"/>
      </dsp:txXfrm>
    </dsp:sp>
    <dsp:sp modelId="{B8C12520-61E7-4803-AB64-916C2C5C4952}">
      <dsp:nvSpPr>
        <dsp:cNvPr id="0" name=""/>
        <dsp:cNvSpPr/>
      </dsp:nvSpPr>
      <dsp:spPr>
        <a:xfrm>
          <a:off x="3075642" y="2363676"/>
          <a:ext cx="590962" cy="6913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3075642" y="2501939"/>
        <a:ext cx="413673" cy="414788"/>
      </dsp:txXfrm>
    </dsp:sp>
    <dsp:sp modelId="{4D1167FF-7095-4C6F-A3D9-CE6BC5D5D8A0}">
      <dsp:nvSpPr>
        <dsp:cNvPr id="0" name=""/>
        <dsp:cNvSpPr/>
      </dsp:nvSpPr>
      <dsp:spPr>
        <a:xfrm>
          <a:off x="3911910" y="1559464"/>
          <a:ext cx="2787560" cy="229973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Submission for Review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b="1" kern="1200" dirty="0"/>
            <a:t>Pre-CKAN </a:t>
          </a:r>
          <a:r>
            <a:rPr lang="es-ES" sz="1400" b="1" kern="1200" dirty="0" err="1"/>
            <a:t>Staging</a:t>
          </a:r>
          <a:r>
            <a:rPr lang="es-ES" sz="1400" b="1" kern="1200" dirty="0"/>
            <a:t> </a:t>
          </a:r>
          <a:r>
            <a:rPr lang="es-ES" sz="1400" b="1" kern="1200" dirty="0" err="1"/>
            <a:t>Environment</a:t>
          </a:r>
          <a:endParaRPr lang="es-E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User submits dataset through NDP </a:t>
          </a:r>
          <a:r>
            <a:rPr lang="en-US" sz="1400" kern="1200" dirty="0" err="1"/>
            <a:t>EndPoints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NDP team reviews submission for approval</a:t>
          </a:r>
        </a:p>
      </dsp:txBody>
      <dsp:txXfrm>
        <a:off x="3979267" y="1626821"/>
        <a:ext cx="2652846" cy="2165023"/>
      </dsp:txXfrm>
    </dsp:sp>
    <dsp:sp modelId="{57843DA5-E61C-4ABB-947D-44AAB51B53BF}">
      <dsp:nvSpPr>
        <dsp:cNvPr id="0" name=""/>
        <dsp:cNvSpPr/>
      </dsp:nvSpPr>
      <dsp:spPr>
        <a:xfrm>
          <a:off x="6978227" y="2363676"/>
          <a:ext cx="590962" cy="69131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6978227" y="2501939"/>
        <a:ext cx="413673" cy="414788"/>
      </dsp:txXfrm>
    </dsp:sp>
    <dsp:sp modelId="{2320DD8C-EA69-4F71-987C-27B221C5641D}">
      <dsp:nvSpPr>
        <dsp:cNvPr id="0" name=""/>
        <dsp:cNvSpPr/>
      </dsp:nvSpPr>
      <dsp:spPr>
        <a:xfrm>
          <a:off x="7814495" y="1559464"/>
          <a:ext cx="2787560" cy="229973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 err="1"/>
            <a:t>Public</a:t>
          </a:r>
          <a:r>
            <a:rPr lang="es-ES" sz="1800" b="1" kern="1200" dirty="0"/>
            <a:t> </a:t>
          </a:r>
          <a:r>
            <a:rPr lang="es-ES" sz="1800" b="1" kern="1200" dirty="0" err="1"/>
            <a:t>Publication</a:t>
          </a:r>
          <a:endParaRPr lang="es-ES" sz="1800" b="1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ES" sz="1400" b="1" kern="1200" dirty="0"/>
            <a:t>NDP Central Catalog</a:t>
          </a:r>
          <a:endParaRPr lang="es-E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Approved datasets promoted to main NDP catalog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Publicly accessible to all platform users</a:t>
          </a:r>
        </a:p>
      </dsp:txBody>
      <dsp:txXfrm>
        <a:off x="7881852" y="1626821"/>
        <a:ext cx="2652846" cy="21650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C74597-0ABF-4722-B56E-34BC09610B39}">
      <dsp:nvSpPr>
        <dsp:cNvPr id="0" name=""/>
        <dsp:cNvSpPr/>
      </dsp:nvSpPr>
      <dsp:spPr>
        <a:xfrm>
          <a:off x="4663" y="1352219"/>
          <a:ext cx="2038856" cy="27142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latin typeface="Aptos Display" panose="02110004020202020204"/>
            </a:rPr>
            <a:t> </a:t>
          </a:r>
          <a:r>
            <a:rPr lang="es-ES" sz="1800" b="1" kern="1200" dirty="0" err="1">
              <a:latin typeface="Aptos Display" panose="02110004020202020204"/>
            </a:rPr>
            <a:t>Register</a:t>
          </a:r>
          <a:r>
            <a:rPr lang="es-ES" sz="1800" b="1" kern="1200" dirty="0">
              <a:latin typeface="Aptos Display" panose="02110004020202020204"/>
            </a:rPr>
            <a:t> a Service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0" kern="1200" dirty="0" err="1">
              <a:latin typeface="Aptos Display" panose="02110004020202020204"/>
            </a:rPr>
            <a:t>User</a:t>
          </a:r>
          <a:r>
            <a:rPr lang="es-ES" sz="1400" kern="1200" dirty="0"/>
            <a:t> </a:t>
          </a:r>
          <a:r>
            <a:rPr lang="es-ES" sz="1400" kern="1200" dirty="0" err="1"/>
            <a:t>registers</a:t>
          </a:r>
          <a:r>
            <a:rPr lang="es-ES" sz="1400" kern="1200" dirty="0"/>
            <a:t> </a:t>
          </a:r>
          <a:r>
            <a:rPr lang="es-ES" sz="1400" kern="1200" dirty="0" err="1"/>
            <a:t>the</a:t>
          </a:r>
          <a:r>
            <a:rPr lang="es-ES" sz="1400" kern="1200" dirty="0"/>
            <a:t> </a:t>
          </a:r>
          <a:r>
            <a:rPr lang="es-ES" sz="1400" kern="1200" dirty="0" err="1"/>
            <a:t>service</a:t>
          </a:r>
          <a:r>
            <a:rPr lang="es-ES" sz="1400" kern="1200" dirty="0">
              <a:latin typeface="Aptos Display" panose="02110004020202020204"/>
            </a:rPr>
            <a:t> in </a:t>
          </a:r>
          <a:r>
            <a:rPr lang="es-ES" sz="1400" kern="1200" dirty="0" err="1">
              <a:latin typeface="Aptos Display" panose="02110004020202020204"/>
            </a:rPr>
            <a:t>the</a:t>
          </a:r>
          <a:r>
            <a:rPr lang="es-ES" sz="1400" kern="1200" dirty="0">
              <a:latin typeface="Aptos Display" panose="02110004020202020204"/>
            </a:rPr>
            <a:t> local CKAN  </a:t>
          </a:r>
          <a:r>
            <a:rPr lang="es-ES" sz="1400" kern="1200" dirty="0" err="1">
              <a:latin typeface="Aptos Display" panose="02110004020202020204"/>
            </a:rPr>
            <a:t>instance</a:t>
          </a:r>
          <a:r>
            <a:rPr lang="es-ES" sz="1400" kern="1200" dirty="0">
              <a:latin typeface="Aptos Display" panose="02110004020202020204"/>
            </a:rPr>
            <a:t>  </a:t>
          </a:r>
          <a:r>
            <a:rPr lang="es-ES" sz="1400" kern="1200" dirty="0" err="1"/>
            <a:t>by</a:t>
          </a:r>
          <a:r>
            <a:rPr lang="es-ES" sz="1400" kern="1200" dirty="0"/>
            <a:t> </a:t>
          </a:r>
          <a:r>
            <a:rPr lang="es-ES" sz="1400" kern="1200" dirty="0" err="1"/>
            <a:t>providing</a:t>
          </a:r>
          <a:r>
            <a:rPr lang="es-ES" sz="1400" kern="1200" dirty="0"/>
            <a:t>: </a:t>
          </a:r>
          <a:endParaRPr lang="en-US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Service URL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kern="1200" dirty="0"/>
            <a:t>Service identification name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1400" kern="1200" dirty="0"/>
            <a:t>Additional metadata information</a:t>
          </a:r>
        </a:p>
      </dsp:txBody>
      <dsp:txXfrm>
        <a:off x="64379" y="1411935"/>
        <a:ext cx="1919424" cy="2594796"/>
      </dsp:txXfrm>
    </dsp:sp>
    <dsp:sp modelId="{B8C12520-61E7-4803-AB64-916C2C5C4952}">
      <dsp:nvSpPr>
        <dsp:cNvPr id="0" name=""/>
        <dsp:cNvSpPr/>
      </dsp:nvSpPr>
      <dsp:spPr>
        <a:xfrm>
          <a:off x="2247405" y="2456515"/>
          <a:ext cx="432237" cy="5056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2247405" y="2557642"/>
        <a:ext cx="302566" cy="303382"/>
      </dsp:txXfrm>
    </dsp:sp>
    <dsp:sp modelId="{4D1167FF-7095-4C6F-A3D9-CE6BC5D5D8A0}">
      <dsp:nvSpPr>
        <dsp:cNvPr id="0" name=""/>
        <dsp:cNvSpPr/>
      </dsp:nvSpPr>
      <dsp:spPr>
        <a:xfrm>
          <a:off x="2859062" y="1352219"/>
          <a:ext cx="2038856" cy="27142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ptos Display" panose="02110004020202020204"/>
            </a:rPr>
            <a:t>Use the Service</a:t>
          </a:r>
          <a:endParaRPr lang="en-US" sz="1800" b="1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400" b="0" kern="1200" dirty="0"/>
            <a:t>Once the service is registered in the system, users can access all its functionalities through the END-EP service proxy</a:t>
          </a:r>
        </a:p>
      </dsp:txBody>
      <dsp:txXfrm>
        <a:off x="2918778" y="1411935"/>
        <a:ext cx="1919424" cy="2594796"/>
      </dsp:txXfrm>
    </dsp:sp>
    <dsp:sp modelId="{57843DA5-E61C-4ABB-947D-44AAB51B53BF}">
      <dsp:nvSpPr>
        <dsp:cNvPr id="0" name=""/>
        <dsp:cNvSpPr/>
      </dsp:nvSpPr>
      <dsp:spPr>
        <a:xfrm>
          <a:off x="5101805" y="2456515"/>
          <a:ext cx="432237" cy="5056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/>
        </a:p>
      </dsp:txBody>
      <dsp:txXfrm>
        <a:off x="5101805" y="2557642"/>
        <a:ext cx="302566" cy="303382"/>
      </dsp:txXfrm>
    </dsp:sp>
    <dsp:sp modelId="{6C173BE3-6415-47D3-8A33-904EF23322FB}">
      <dsp:nvSpPr>
        <dsp:cNvPr id="0" name=""/>
        <dsp:cNvSpPr/>
      </dsp:nvSpPr>
      <dsp:spPr>
        <a:xfrm>
          <a:off x="5713462" y="1352219"/>
          <a:ext cx="2038856" cy="27142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latin typeface="Aptos Display" panose="02110004020202020204"/>
            </a:rPr>
            <a:t> </a:t>
          </a:r>
          <a:r>
            <a:rPr lang="es-ES" sz="1800" b="0" kern="1200" dirty="0"/>
            <a:t>Register Service to Pre-CKAN</a:t>
          </a:r>
        </a:p>
      </dsp:txBody>
      <dsp:txXfrm>
        <a:off x="5773178" y="1411935"/>
        <a:ext cx="1919424" cy="2594796"/>
      </dsp:txXfrm>
    </dsp:sp>
    <dsp:sp modelId="{6DA92F0F-90C3-4CAD-BD42-32453354B9F9}">
      <dsp:nvSpPr>
        <dsp:cNvPr id="0" name=""/>
        <dsp:cNvSpPr/>
      </dsp:nvSpPr>
      <dsp:spPr>
        <a:xfrm>
          <a:off x="7956204" y="2456515"/>
          <a:ext cx="432237" cy="5056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7956204" y="2557642"/>
        <a:ext cx="302566" cy="303382"/>
      </dsp:txXfrm>
    </dsp:sp>
    <dsp:sp modelId="{2320DD8C-EA69-4F71-987C-27B221C5641D}">
      <dsp:nvSpPr>
        <dsp:cNvPr id="0" name=""/>
        <dsp:cNvSpPr/>
      </dsp:nvSpPr>
      <dsp:spPr>
        <a:xfrm>
          <a:off x="8567861" y="1352219"/>
          <a:ext cx="2038856" cy="271422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latin typeface="Aptos Display" panose="02110004020202020204"/>
            </a:rPr>
            <a:t> </a:t>
          </a:r>
          <a:r>
            <a:rPr lang="es-ES" sz="1800" b="0" kern="1200" dirty="0"/>
            <a:t>Publish to NDP Central Catalog</a:t>
          </a:r>
        </a:p>
      </dsp:txBody>
      <dsp:txXfrm>
        <a:off x="8627577" y="1411935"/>
        <a:ext cx="1919424" cy="2594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9C0B1-1EE8-7492-6518-86D6FE936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49C913-51C4-D684-B230-9513BD53F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E749FB-4677-2A35-4493-76812A2C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BF1FCE-AA7A-7B69-6B87-D970FE688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BBA6B7-232E-1B0B-96F6-207A3DA0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0666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C15AC-6975-F74D-90D7-C28D5EC3F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3E81D4-BE57-5453-07E2-686E47AF2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851B1B-ABAB-D5A9-FF76-558C6DF28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CBF49F-3783-5405-5EFC-F769EE3E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5AA21-6F0A-E426-8704-22003D1EE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1735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C39A00-8757-4DA0-CEF3-CB841AB9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3E74EB-FB2D-138E-EC15-FA99F2935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883130-FD56-8026-F3B4-FAF57C6B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8E1F90-6490-C513-4292-186681B62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85ACD4-AFD1-EF8E-E386-99C5892B9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768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6F92D-18D4-3B70-329D-19870FF15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569BD1-9BD9-C65F-50D9-F82DB95D4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790D9D-CE96-C7A1-E232-77504049F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BCBCDC-9EDC-9713-7D1A-AA25573E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571A2F-A9CB-7462-6182-58D76DEA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6D77BF-8AEB-129D-D1E6-8044E32E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6668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40040-9ECC-FDF9-3739-E902F8C0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50A7CB-B68C-B179-7DA3-428410043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DA8596-2AC9-0FEC-0B80-A38A64609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E9FE0E-AF50-1BAF-1F9E-AC71064BA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9FFC1A8-3EE7-8BF2-B9ED-D90DEB45C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F380BA1-8ED5-919C-1194-BFF5C97A8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5A5156-97A3-9881-C21B-8268D4AE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5EB6EB-60FE-D867-1D94-0AEBDADB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3335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D6EB2-AA5D-8C1E-3F32-5E13B4C3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4DD59C4-B6E3-5217-E6B3-BB7308F5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34A894-7E99-0DB9-C610-E4DF1A0A7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05694A-62BE-C763-22B8-DB12DB58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8664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07B49AB-60BC-A5CB-3AEC-F1C12C78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63A02E0-AAF9-353B-39DA-C39F79A75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DD5D7F-0AC7-E5DD-7383-A9E54D62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222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BCC14-0F81-DF86-42AD-14C1EA711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0BADD5-D2CB-A09E-D2BE-C50F59207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506176-8FBD-C2FD-DD10-46CD2ECE4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CD3D17-D3D3-F661-2D64-9AF98F60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2A6651-2E51-A650-0146-02329649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7CA306-BA47-FF44-D193-00FA33816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15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0DCF9-B2D4-C80A-D909-056EB253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D27EB1-DBDA-E5C3-CAD9-025153BC2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E54DEE-3D1C-3FC6-259C-47CD653FC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4D8787F-6B3F-5E47-437A-CA0F739D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E664A5-F75D-4A47-A793-88DFC193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707291-3DAF-402C-CDC4-B2012B159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23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3BDD0-8591-608D-0AD2-6E7EAEBB3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0A7F1A-31A5-8BCC-7DFA-FA22B9BB70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B4265-8E37-16FF-2C97-D393B7B30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2300D3-718D-4ACA-1631-24547746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6F326F-43E3-410D-2B59-10008D72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4044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F467D3-E422-1435-092D-D07F4A20C8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0C6006-743B-777E-5DD3-6CF0A75ED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C1A17-3CEB-01B6-8FC4-5BBA10BD0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180227-C71E-CBEB-3F5B-1F98A4BE4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33C89F-6712-F293-1885-D388EC81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3830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23BD20-4597-847D-D2F1-F0C9E0785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8BED1E-A68B-1B62-2BD1-D43CD7080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DA66E-7C6D-AFB6-A8B1-020D4288A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2D291-E450-4B98-8BDD-1AB402044A7A}" type="datetimeFigureOut">
              <a:rPr lang="es-ES" smtClean="0"/>
              <a:t>29/08/2025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A3F5EB-42CD-3789-B719-D2A247C28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792288-E224-B98E-3357-77EE89797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277C4-1676-4196-9D41-46CF685ED10A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0859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ational-data-platform/ep-py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github.com/national-data-platform/ep-frontend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national-data-platform/ep-api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national-data-platform/ep-api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national-data-platform/ep-frontend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1.xml"/><Relationship Id="rId5" Type="http://schemas.openxmlformats.org/officeDocument/2006/relationships/image" Target="../media/image5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3.png"/><Relationship Id="rId7" Type="http://schemas.openxmlformats.org/officeDocument/2006/relationships/diagramLayout" Target="../diagrams/layou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5" Type="http://schemas.openxmlformats.org/officeDocument/2006/relationships/image" Target="../media/image5.png"/><Relationship Id="rId10" Type="http://schemas.microsoft.com/office/2007/relationships/diagramDrawing" Target="../diagrams/drawing2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A8005DC8-D963-7FB0-7181-6ACA0F35D1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756466" y="814431"/>
            <a:ext cx="8161258" cy="5610144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6A6D393D-35F7-55EA-4C64-23D84457451F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6A73A61-52A6-35F5-F775-ADC10A186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B3A2E0CD-A74C-BD05-C5E7-CE458A6C3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4176006-D536-2D02-0DED-D4678E4BD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7612"/>
            <a:ext cx="9144000" cy="2387600"/>
          </a:xfrm>
        </p:spPr>
        <p:txBody>
          <a:bodyPr/>
          <a:lstStyle/>
          <a:p>
            <a:r>
              <a:rPr lang="es-ES" b="1" dirty="0" err="1"/>
              <a:t>National</a:t>
            </a:r>
            <a:r>
              <a:rPr lang="es-ES" b="1" dirty="0"/>
              <a:t> Data </a:t>
            </a:r>
            <a:r>
              <a:rPr lang="es-ES" b="1" dirty="0" err="1"/>
              <a:t>Platform</a:t>
            </a:r>
            <a:r>
              <a:rPr lang="es-ES" b="1" dirty="0"/>
              <a:t> </a:t>
            </a:r>
            <a:r>
              <a:rPr lang="es-ES" b="1" dirty="0" err="1"/>
              <a:t>EndPoints</a:t>
            </a:r>
            <a:endParaRPr lang="es-ES" b="1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F88CDDD-AAA2-C86D-D3DA-D7B16E6666DD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151DA9BC-62DB-8A58-5B64-C56D199A2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8B78F2C5-2325-6055-799D-8F978C296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63777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5B5DF-8032-4F6D-4DD2-62DABE87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23D0FDA4-635C-2236-C1E6-56BB0A8A5FC9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69F38CC7-EC7B-3B73-57CF-C9F197B79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272D020-AB96-88A6-18F1-D3FF8F3A4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0891DAE-E7BA-F5F7-3339-71888BAC65EB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7AD8375-5642-088F-8D13-68C476051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F7F974D2-02F9-F867-AA42-D40B61882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94966FD6-3C1A-FCB0-D4DD-D51BFA801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6738" y="1490100"/>
            <a:ext cx="7479323" cy="1195402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What</a:t>
            </a:r>
            <a:r>
              <a:rPr lang="es-ES" dirty="0"/>
              <a:t> are NDP </a:t>
            </a:r>
            <a:r>
              <a:rPr lang="es-ES" dirty="0" err="1"/>
              <a:t>EndPoints</a:t>
            </a:r>
            <a:r>
              <a:rPr lang="es-ES" dirty="0"/>
              <a:t>?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66C1E1-ECA5-A5BB-E6C9-DCAA9F8E2212}"/>
              </a:ext>
            </a:extLst>
          </p:cNvPr>
          <p:cNvSpPr txBox="1"/>
          <p:nvPr/>
        </p:nvSpPr>
        <p:spPr>
          <a:xfrm>
            <a:off x="868887" y="3555709"/>
            <a:ext cx="104649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NDP </a:t>
            </a:r>
            <a:r>
              <a:rPr lang="en-US" sz="2800" b="1" dirty="0" err="1"/>
              <a:t>EndPoints</a:t>
            </a:r>
            <a:r>
              <a:rPr lang="en-US" sz="2800" b="1" dirty="0"/>
              <a:t> (EP)</a:t>
            </a:r>
            <a:r>
              <a:rPr lang="en-US" sz="2800" dirty="0"/>
              <a:t> are unified access interfaces that provide seamless integration with the National Data Platform ecosystem.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2946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544A0-2DAE-6AF1-6F78-2F3C94BA7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298E2D6F-655A-2206-928F-E99684CFF279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9967D7B-9E5A-375F-D20A-4D3A023D3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7DF841C5-6AAC-73D1-CBE5-EAEC6A18E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EC57D2D-805E-7F12-F57B-07F8DA2C124F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3DD68D6A-624C-226E-C857-759580B21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B6AA675E-EAA7-96CF-5E17-1C10D9F24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434832C2-46E7-57F6-CD79-08E7E8287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1777" y="1653885"/>
            <a:ext cx="5043268" cy="527113"/>
          </a:xfrm>
        </p:spPr>
        <p:txBody>
          <a:bodyPr>
            <a:normAutofit fontScale="90000"/>
          </a:bodyPr>
          <a:lstStyle/>
          <a:p>
            <a:r>
              <a:rPr lang="es-ES" dirty="0"/>
              <a:t>Key Concept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E0E3AE-0832-37F6-2716-79B062A9277B}"/>
              </a:ext>
            </a:extLst>
          </p:cNvPr>
          <p:cNvSpPr txBox="1"/>
          <p:nvPr/>
        </p:nvSpPr>
        <p:spPr>
          <a:xfrm>
            <a:off x="492369" y="2359359"/>
            <a:ext cx="1046495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err="1"/>
              <a:t>EndPoints</a:t>
            </a:r>
            <a:r>
              <a:rPr lang="en-US" sz="2400" dirty="0"/>
              <a:t> serve as </a:t>
            </a:r>
            <a:r>
              <a:rPr lang="en-US" sz="2400" b="1" dirty="0"/>
              <a:t>gateway tools</a:t>
            </a:r>
            <a:r>
              <a:rPr lang="en-US" sz="2400" dirty="0"/>
              <a:t> that simplify and standardize interactions with the NDP infrastructure, enabling users and systems to:</a:t>
            </a:r>
            <a:br>
              <a:rPr lang="en-US" sz="2800" dirty="0"/>
            </a:br>
            <a:endParaRPr lang="en-US" sz="28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CKAN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catalogs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(Local, Pre-CKAN, NDP Central)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single,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streamlined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Ingest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 data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across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federated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catalogs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ES" altLang="es-E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services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(Kafka, S3,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JupyterLab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s-ES" altLang="es-E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APIs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657579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67A74-23D6-044D-4517-74C3058BE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DCF7FAB4-2E79-1A67-9BD8-CB3077F3A23A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4C18E7BD-D9D7-6904-568D-50799501E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2A855BC-9BAE-0263-5524-6AA792147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5F5A893-D2A7-C0E9-25BC-F8189DBA5781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1E6D534-48DB-0749-1D6A-3244FC97A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4E24A8D2-8722-2C0B-5AD0-85F44F828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AAF7AE9D-2EFA-77A6-B808-9EFBF7274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2877" y="1629671"/>
            <a:ext cx="5043268" cy="527113"/>
          </a:xfrm>
        </p:spPr>
        <p:txBody>
          <a:bodyPr>
            <a:normAutofit fontScale="90000"/>
          </a:bodyPr>
          <a:lstStyle/>
          <a:p>
            <a:r>
              <a:rPr lang="es-ES" dirty="0"/>
              <a:t>NDP EP </a:t>
            </a:r>
            <a:r>
              <a:rPr lang="es-ES" dirty="0" err="1"/>
              <a:t>Stack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8E32CDB-5205-3917-A3AF-21F3379A1B42}"/>
              </a:ext>
            </a:extLst>
          </p:cNvPr>
          <p:cNvSpPr txBox="1"/>
          <p:nvPr/>
        </p:nvSpPr>
        <p:spPr>
          <a:xfrm>
            <a:off x="492369" y="2321130"/>
            <a:ext cx="1046495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3200" dirty="0" err="1"/>
              <a:t>Three-Layer</a:t>
            </a:r>
            <a:r>
              <a:rPr lang="es-ES" sz="3200" dirty="0"/>
              <a:t> </a:t>
            </a:r>
            <a:r>
              <a:rPr lang="es-ES" sz="3200" dirty="0" err="1"/>
              <a:t>Architecture</a:t>
            </a:r>
            <a:r>
              <a:rPr lang="es-ES" sz="3200" dirty="0"/>
              <a:t>:</a:t>
            </a:r>
            <a:br>
              <a:rPr lang="en-US" sz="3600" dirty="0"/>
            </a:br>
            <a:endParaRPr lang="en-US" sz="3600" dirty="0"/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sz="2800" b="1" dirty="0"/>
              <a:t>EP-API</a:t>
            </a:r>
            <a:r>
              <a:rPr lang="es-ES" sz="2800" dirty="0"/>
              <a:t>: REST API - 1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sz="2800" b="1" dirty="0"/>
              <a:t>EP-</a:t>
            </a:r>
            <a:r>
              <a:rPr lang="es-ES" sz="2800" b="1" dirty="0" err="1"/>
              <a:t>Frontend</a:t>
            </a:r>
            <a:r>
              <a:rPr lang="es-ES" sz="2800" b="1" dirty="0"/>
              <a:t>: </a:t>
            </a:r>
            <a:r>
              <a:rPr lang="es-ES" sz="2800" dirty="0"/>
              <a:t>Administrative Web </a:t>
            </a:r>
            <a:r>
              <a:rPr lang="es-ES" sz="2800" dirty="0" err="1"/>
              <a:t>Console</a:t>
            </a:r>
            <a:r>
              <a:rPr lang="es-ES" sz="2800" dirty="0"/>
              <a:t> - 2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" sz="2800" b="1" dirty="0"/>
              <a:t>EP-Python Library: </a:t>
            </a:r>
            <a:r>
              <a:rPr lang="es-ES" sz="2800" dirty="0" err="1"/>
              <a:t>Programmatic</a:t>
            </a:r>
            <a:r>
              <a:rPr lang="es-ES" sz="2800" dirty="0"/>
              <a:t> </a:t>
            </a:r>
            <a:r>
              <a:rPr lang="es-ES" sz="2800" dirty="0" err="1"/>
              <a:t>Integration</a:t>
            </a:r>
            <a:r>
              <a:rPr lang="es-ES" sz="2800" dirty="0"/>
              <a:t> - 3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s-E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/>
              <a:t>1 - </a:t>
            </a:r>
            <a:r>
              <a:rPr lang="es-ES" sz="1600" dirty="0">
                <a:hlinkClick r:id="rId6"/>
              </a:rPr>
              <a:t>https://github.com/national-data-platform/ep-api</a:t>
            </a:r>
            <a:endParaRPr lang="es-ES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/>
              <a:t>2 -  </a:t>
            </a:r>
            <a:r>
              <a:rPr lang="es-ES" sz="1600" dirty="0">
                <a:hlinkClick r:id="rId7"/>
              </a:rPr>
              <a:t>https://github.com/national-data-platform/ep-frontend</a:t>
            </a:r>
            <a:endParaRPr lang="es-ES" sz="1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600" dirty="0"/>
              <a:t>3 - </a:t>
            </a:r>
            <a:r>
              <a:rPr lang="es-ES" sz="1600" dirty="0">
                <a:hlinkClick r:id="rId8"/>
              </a:rPr>
              <a:t>https://github.com/national-data-platform/ep-py</a:t>
            </a:r>
            <a:r>
              <a:rPr lang="es-ES" sz="1600" dirty="0"/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6E09D2-7F6C-4B81-5AFA-73D850335602}"/>
              </a:ext>
            </a:extLst>
          </p:cNvPr>
          <p:cNvSpPr txBox="1"/>
          <p:nvPr/>
        </p:nvSpPr>
        <p:spPr>
          <a:xfrm>
            <a:off x="8939640" y="3323228"/>
            <a:ext cx="290135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Note</a:t>
            </a:r>
            <a:r>
              <a:rPr lang="en-US" sz="2400" dirty="0">
                <a:ea typeface="+mn-lt"/>
                <a:cs typeface="+mn-lt"/>
              </a:rPr>
              <a:t>: A local CKAN installation is also needed</a:t>
            </a:r>
          </a:p>
        </p:txBody>
      </p:sp>
    </p:spTree>
    <p:extLst>
      <p:ext uri="{BB962C8B-B14F-4D97-AF65-F5344CB8AC3E}">
        <p14:creationId xmlns:p14="http://schemas.microsoft.com/office/powerpoint/2010/main" val="2095715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A17C7-06DC-9583-B5F5-36EBBE77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A62F96C8-8595-ADF9-8CB5-E3A47B8FE66E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5EDAEBF5-CAB4-E0AA-53C2-8AE34ADD7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2BA4F53-7704-E807-9EB8-574F4CC0E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10CAD4F-3E4A-4DDA-B088-747FE6868890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28D88A7-7D88-D4AB-FA4B-50CD45D87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326FF5EB-DEB4-B2CC-4AE3-8622EF896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9A41CBC1-B066-CE79-0CB8-14F51F7AF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72877" y="1629671"/>
            <a:ext cx="5043268" cy="527113"/>
          </a:xfrm>
        </p:spPr>
        <p:txBody>
          <a:bodyPr>
            <a:normAutofit fontScale="90000"/>
          </a:bodyPr>
          <a:lstStyle/>
          <a:p>
            <a:r>
              <a:rPr lang="es-ES" dirty="0"/>
              <a:t>NDP EP </a:t>
            </a:r>
            <a:r>
              <a:rPr lang="es-ES" dirty="0" err="1"/>
              <a:t>Stack</a:t>
            </a:r>
            <a:endParaRPr lang="es-E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290A54-C913-B1EA-ADFC-B7482C01E3AA}"/>
              </a:ext>
            </a:extLst>
          </p:cNvPr>
          <p:cNvSpPr/>
          <p:nvPr/>
        </p:nvSpPr>
        <p:spPr>
          <a:xfrm>
            <a:off x="8304679" y="1966328"/>
            <a:ext cx="1900047" cy="9042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NDP AAI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38463-0A13-F4DE-9385-478BA72E65C1}"/>
              </a:ext>
            </a:extLst>
          </p:cNvPr>
          <p:cNvSpPr/>
          <p:nvPr/>
        </p:nvSpPr>
        <p:spPr>
          <a:xfrm>
            <a:off x="8304895" y="4760797"/>
            <a:ext cx="1900047" cy="9042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NDP Catalog (CKAN)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E724FC-4CAE-1ACA-C050-D59B4416B30E}"/>
              </a:ext>
            </a:extLst>
          </p:cNvPr>
          <p:cNvSpPr/>
          <p:nvPr/>
        </p:nvSpPr>
        <p:spPr>
          <a:xfrm>
            <a:off x="8303316" y="3429962"/>
            <a:ext cx="1900047" cy="90425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NDP Pre-CKAN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2F72B1-3344-82F6-E712-25D1915E4FB8}"/>
              </a:ext>
            </a:extLst>
          </p:cNvPr>
          <p:cNvSpPr/>
          <p:nvPr/>
        </p:nvSpPr>
        <p:spPr>
          <a:xfrm>
            <a:off x="4965348" y="3260620"/>
            <a:ext cx="1900047" cy="90425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NDP EP-API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943FB0-F2F2-98CD-F0D6-D0B973356E4A}"/>
              </a:ext>
            </a:extLst>
          </p:cNvPr>
          <p:cNvSpPr/>
          <p:nvPr/>
        </p:nvSpPr>
        <p:spPr>
          <a:xfrm>
            <a:off x="1752094" y="2461898"/>
            <a:ext cx="2597782" cy="8950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NDP EP-Frontend</a:t>
            </a:r>
            <a:br>
              <a:rPr lang="en-US" dirty="0"/>
            </a:br>
            <a:r>
              <a:rPr lang="en-US" dirty="0"/>
              <a:t>(Admin console)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A9851B-6885-4F7F-261D-D93E1E161D26}"/>
              </a:ext>
            </a:extLst>
          </p:cNvPr>
          <p:cNvSpPr/>
          <p:nvPr/>
        </p:nvSpPr>
        <p:spPr>
          <a:xfrm>
            <a:off x="1793847" y="3880633"/>
            <a:ext cx="2551879" cy="8858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NDP EP-Python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33302A-4974-861A-DDFC-6E8EDCB3F98B}"/>
              </a:ext>
            </a:extLst>
          </p:cNvPr>
          <p:cNvCxnSpPr/>
          <p:nvPr/>
        </p:nvCxnSpPr>
        <p:spPr>
          <a:xfrm>
            <a:off x="4372705" y="2890467"/>
            <a:ext cx="541508" cy="534833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C1A3426-EAD0-D4A2-022D-8B298F0E3818}"/>
              </a:ext>
            </a:extLst>
          </p:cNvPr>
          <p:cNvCxnSpPr>
            <a:cxnSpLocks/>
          </p:cNvCxnSpPr>
          <p:nvPr/>
        </p:nvCxnSpPr>
        <p:spPr>
          <a:xfrm flipV="1">
            <a:off x="4388362" y="3952437"/>
            <a:ext cx="525850" cy="420276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ED533E1-8894-D770-AC68-EA58152214B1}"/>
              </a:ext>
            </a:extLst>
          </p:cNvPr>
          <p:cNvCxnSpPr>
            <a:cxnSpLocks/>
          </p:cNvCxnSpPr>
          <p:nvPr/>
        </p:nvCxnSpPr>
        <p:spPr>
          <a:xfrm flipV="1">
            <a:off x="6888349" y="2381464"/>
            <a:ext cx="1387012" cy="1030920"/>
          </a:xfrm>
          <a:prstGeom prst="straightConnector1">
            <a:avLst/>
          </a:prstGeom>
          <a:ln w="571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C6C9504-7D81-DBE7-C0B1-570EDF0AC24C}"/>
              </a:ext>
            </a:extLst>
          </p:cNvPr>
          <p:cNvCxnSpPr>
            <a:cxnSpLocks/>
          </p:cNvCxnSpPr>
          <p:nvPr/>
        </p:nvCxnSpPr>
        <p:spPr>
          <a:xfrm>
            <a:off x="6877911" y="3709876"/>
            <a:ext cx="1413107" cy="7695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5EE7CD8-9005-25B3-E96F-FBD3226D2091}"/>
              </a:ext>
            </a:extLst>
          </p:cNvPr>
          <p:cNvCxnSpPr>
            <a:cxnSpLocks/>
          </p:cNvCxnSpPr>
          <p:nvPr/>
        </p:nvCxnSpPr>
        <p:spPr>
          <a:xfrm>
            <a:off x="6893567" y="3991711"/>
            <a:ext cx="1345259" cy="1150697"/>
          </a:xfrm>
          <a:prstGeom prst="straightConnector1">
            <a:avLst/>
          </a:prstGeom>
          <a:ln w="57150"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AD9ED40-6DE3-89D8-6E72-15EA4B893F92}"/>
              </a:ext>
            </a:extLst>
          </p:cNvPr>
          <p:cNvSpPr txBox="1"/>
          <p:nvPr/>
        </p:nvSpPr>
        <p:spPr>
          <a:xfrm rot="-2160000">
            <a:off x="6640048" y="212395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Authorization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26B7A3-D69A-23A8-3253-13BF8C8FF35A}"/>
              </a:ext>
            </a:extLst>
          </p:cNvPr>
          <p:cNvSpPr txBox="1"/>
          <p:nvPr/>
        </p:nvSpPr>
        <p:spPr>
          <a:xfrm>
            <a:off x="7302884" y="3313925"/>
            <a:ext cx="9895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Register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796987-038F-554D-B370-069340EF546F}"/>
              </a:ext>
            </a:extLst>
          </p:cNvPr>
          <p:cNvSpPr txBox="1"/>
          <p:nvPr/>
        </p:nvSpPr>
        <p:spPr>
          <a:xfrm rot="2400000">
            <a:off x="7297665" y="4362980"/>
            <a:ext cx="9999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Search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A7F7CF9-DE7E-3597-62DA-E242754173C2}"/>
              </a:ext>
            </a:extLst>
          </p:cNvPr>
          <p:cNvCxnSpPr>
            <a:cxnSpLocks/>
          </p:cNvCxnSpPr>
          <p:nvPr/>
        </p:nvCxnSpPr>
        <p:spPr>
          <a:xfrm>
            <a:off x="9257855" y="4330957"/>
            <a:ext cx="14368" cy="440886"/>
          </a:xfrm>
          <a:prstGeom prst="straightConnector1">
            <a:avLst/>
          </a:prstGeom>
          <a:ln w="57150"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BAD2FB9-87AD-CBD3-91F1-FABE02D9D52C}"/>
              </a:ext>
            </a:extLst>
          </p:cNvPr>
          <p:cNvSpPr txBox="1"/>
          <p:nvPr/>
        </p:nvSpPr>
        <p:spPr>
          <a:xfrm>
            <a:off x="9291390" y="4383856"/>
            <a:ext cx="264403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Register after QC checks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09160E0-CF57-3AC8-ACD1-6AF4FA693AED}"/>
              </a:ext>
            </a:extLst>
          </p:cNvPr>
          <p:cNvSpPr/>
          <p:nvPr/>
        </p:nvSpPr>
        <p:spPr>
          <a:xfrm>
            <a:off x="4964620" y="4990440"/>
            <a:ext cx="1900047" cy="90425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/>
              <a:t>Local CKAN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4BF8FB-A2CA-F0C1-121B-C487D2750EB3}"/>
              </a:ext>
            </a:extLst>
          </p:cNvPr>
          <p:cNvCxnSpPr>
            <a:cxnSpLocks/>
          </p:cNvCxnSpPr>
          <p:nvPr/>
        </p:nvCxnSpPr>
        <p:spPr>
          <a:xfrm flipH="1" flipV="1">
            <a:off x="5159513" y="4176862"/>
            <a:ext cx="6506" cy="796056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5E494FF-9088-B6EF-0AC5-2A7EF7B6D039}"/>
              </a:ext>
            </a:extLst>
          </p:cNvPr>
          <p:cNvSpPr txBox="1"/>
          <p:nvPr/>
        </p:nvSpPr>
        <p:spPr>
          <a:xfrm>
            <a:off x="5204774" y="4420390"/>
            <a:ext cx="20960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Full management</a:t>
            </a:r>
          </a:p>
        </p:txBody>
      </p:sp>
    </p:spTree>
    <p:extLst>
      <p:ext uri="{BB962C8B-B14F-4D97-AF65-F5344CB8AC3E}">
        <p14:creationId xmlns:p14="http://schemas.microsoft.com/office/powerpoint/2010/main" val="355446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62D6B-6746-E986-9E4C-C2CE4F4C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3F02A2BE-85BA-A280-EC6E-273FDC03971A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5BEF08B-3C46-670C-69B8-718BF8CF9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FEB9C62-9B73-1ACE-9A62-35EB35408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4640429-B47B-E7D7-CA36-B9D63B730740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C4AC530-74FD-9EBD-4CA4-B483D17CC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3BF7709F-17A0-77D9-FA0E-0992581B5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D58F1C01-A945-3E6D-2DEF-61A54E9EE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019" y="1674494"/>
            <a:ext cx="5903880" cy="500219"/>
          </a:xfrm>
        </p:spPr>
        <p:txBody>
          <a:bodyPr>
            <a:normAutofit fontScale="90000"/>
          </a:bodyPr>
          <a:lstStyle/>
          <a:p>
            <a:r>
              <a:rPr lang="es-ES" dirty="0"/>
              <a:t>NDP EP  </a:t>
            </a:r>
            <a:r>
              <a:rPr lang="es-ES" err="1"/>
              <a:t>Features</a:t>
            </a:r>
            <a:endParaRPr lang="es-E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27D35F-A289-7AD7-0B8A-84AA34FBBF07}"/>
              </a:ext>
            </a:extLst>
          </p:cNvPr>
          <p:cNvSpPr txBox="1"/>
          <p:nvPr/>
        </p:nvSpPr>
        <p:spPr>
          <a:xfrm>
            <a:off x="491503" y="2334389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🔍 </a:t>
            </a:r>
            <a:r>
              <a:rPr lang="en-US" b="1"/>
              <a:t>SEARCH AND QUERY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2C52B-F722-6C06-7541-3C04859EEEEA}"/>
              </a:ext>
            </a:extLst>
          </p:cNvPr>
          <p:cNvSpPr txBox="1"/>
          <p:nvPr/>
        </p:nvSpPr>
        <p:spPr>
          <a:xfrm>
            <a:off x="396479" y="3230166"/>
            <a:ext cx="620791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Search datasets by multiple criteria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By name, title, organization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By resource type, format, description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Free-text search terms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Temporal and custom filters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Support for multiple servers (local, global, </a:t>
            </a:r>
          </a:p>
          <a:p>
            <a:r>
              <a:rPr lang="en-US" dirty="0"/>
              <a:t>  pre-CKAN)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E6C4D0-64DD-916A-6307-AE1331478701}"/>
              </a:ext>
            </a:extLst>
          </p:cNvPr>
          <p:cNvSpPr txBox="1"/>
          <p:nvPr/>
        </p:nvSpPr>
        <p:spPr>
          <a:xfrm>
            <a:off x="396478" y="2861072"/>
            <a:ext cx="62079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Dataset Search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1154F-CC88-6BC4-1D60-746DBAD50465}"/>
              </a:ext>
            </a:extLst>
          </p:cNvPr>
          <p:cNvSpPr txBox="1"/>
          <p:nvPr/>
        </p:nvSpPr>
        <p:spPr>
          <a:xfrm>
            <a:off x="6206728" y="3248024"/>
            <a:ext cx="620791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Get all organizations</a:t>
            </a:r>
            <a:r>
              <a:rPr lang="en-US" dirty="0"/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Optional filtering by name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Support for multiple servers (local, global, pre-CKAN)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583C8-571A-21A1-2BEF-9DCA9250D060}"/>
              </a:ext>
            </a:extLst>
          </p:cNvPr>
          <p:cNvSpPr txBox="1"/>
          <p:nvPr/>
        </p:nvSpPr>
        <p:spPr>
          <a:xfrm>
            <a:off x="6206728" y="2878930"/>
            <a:ext cx="62079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Organization Listing</a:t>
            </a: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679A02-EE7C-45CD-99DA-0DC64ED3CD62}"/>
              </a:ext>
            </a:extLst>
          </p:cNvPr>
          <p:cNvSpPr txBox="1"/>
          <p:nvPr/>
        </p:nvSpPr>
        <p:spPr>
          <a:xfrm>
            <a:off x="6206728" y="4385072"/>
            <a:ext cx="561260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An Organization is essentially a </a:t>
            </a:r>
            <a:r>
              <a:rPr lang="en-US" b="1" dirty="0"/>
              <a:t>group or entity that owns and manages datasets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577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FCCDA-C65A-54C9-31B0-374AF70CD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294542F9-29A7-3DC2-4DDC-3CA218E99D4A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6A34902-0277-D35D-6E13-D2DDECB51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DFBE071C-7638-5B14-D664-340B23B5F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321BE34D-3579-8D44-F527-55A0D58B3B5D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7EEE441-8A3D-7CE7-ED84-222062D54C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BA1634D9-524E-6FD5-EEDC-3309D856E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A8A1AD91-87B5-F332-66BA-AEF52CDC2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019" y="1674494"/>
            <a:ext cx="5903880" cy="500219"/>
          </a:xfrm>
        </p:spPr>
        <p:txBody>
          <a:bodyPr>
            <a:normAutofit fontScale="90000"/>
          </a:bodyPr>
          <a:lstStyle/>
          <a:p>
            <a:r>
              <a:rPr lang="es-ES" dirty="0"/>
              <a:t>NDP EP  </a:t>
            </a:r>
            <a:r>
              <a:rPr lang="es-ES" err="1"/>
              <a:t>Features</a:t>
            </a:r>
            <a:endParaRPr lang="es-E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565969-1CC0-C74C-2053-5BDC78E474F2}"/>
              </a:ext>
            </a:extLst>
          </p:cNvPr>
          <p:cNvSpPr txBox="1"/>
          <p:nvPr/>
        </p:nvSpPr>
        <p:spPr>
          <a:xfrm>
            <a:off x="491727" y="2420540"/>
            <a:ext cx="41421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📝 </a:t>
            </a:r>
            <a:r>
              <a:rPr lang="en-US" b="1"/>
              <a:t>DATASET MANAGEMENT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36336-0EF0-2C3C-58A7-61D216136D3E}"/>
              </a:ext>
            </a:extLst>
          </p:cNvPr>
          <p:cNvSpPr txBox="1"/>
          <p:nvPr/>
        </p:nvSpPr>
        <p:spPr>
          <a:xfrm>
            <a:off x="503634" y="2605087"/>
            <a:ext cx="561260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Create (Register) general and flexible datasets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Full update (complete replacement)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Partial update (specific fields only)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Delete datasets by ID or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820CA-F596-4439-D733-15D6185FE78C}"/>
              </a:ext>
            </a:extLst>
          </p:cNvPr>
          <p:cNvSpPr txBox="1"/>
          <p:nvPr/>
        </p:nvSpPr>
        <p:spPr>
          <a:xfrm>
            <a:off x="491728" y="4480321"/>
            <a:ext cx="1114305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Note</a:t>
            </a:r>
            <a:r>
              <a:rPr lang="en-US" dirty="0">
                <a:ea typeface="+mn-lt"/>
                <a:cs typeface="+mn-lt"/>
              </a:rPr>
              <a:t>: NDP EP offers type-specific registration workflows for specific data sources (URLs, Kafka streams, S3 buckets) that automatically handle the appropriate metadata and configuration, plus flexible general dataset endpoints for any other CKAN-supported data type.</a:t>
            </a:r>
            <a:endParaRPr lang="en-US" b="1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28433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FD1CA-457A-5FED-20F4-2C8F13ECE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6FC19930-62EC-B560-5CB4-0B5BE3B795EE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CF43F52-9FCD-D041-54A8-0212D82C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21332BDE-EF0B-E1A0-A388-57BBDD9AB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2DCB030-FA3F-2BBC-3FAB-B368C653AE77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7E698BF2-81FE-DF43-1A85-4693ABAE2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2945CC5-F22A-2508-5E31-B316E0659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680F4EE7-84E5-812C-4173-2C8BFF89D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019" y="1674494"/>
            <a:ext cx="5903880" cy="500219"/>
          </a:xfrm>
        </p:spPr>
        <p:txBody>
          <a:bodyPr>
            <a:normAutofit fontScale="90000"/>
          </a:bodyPr>
          <a:lstStyle/>
          <a:p>
            <a:r>
              <a:rPr lang="es-ES" dirty="0"/>
              <a:t>NDP EP  </a:t>
            </a:r>
            <a:r>
              <a:rPr lang="es-ES" err="1"/>
              <a:t>Features</a:t>
            </a:r>
            <a:endParaRPr lang="es-E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276023-8B54-E77C-829D-9F10F9C00957}"/>
              </a:ext>
            </a:extLst>
          </p:cNvPr>
          <p:cNvSpPr txBox="1"/>
          <p:nvPr/>
        </p:nvSpPr>
        <p:spPr>
          <a:xfrm>
            <a:off x="491727" y="2420540"/>
            <a:ext cx="41421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🏢 </a:t>
            </a:r>
            <a:r>
              <a:rPr lang="en-US" b="1" dirty="0">
                <a:ea typeface="+mn-lt"/>
                <a:cs typeface="+mn-lt"/>
              </a:rPr>
              <a:t>ORGANIZATION MANAGEMENT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963AE-3727-84CA-7719-9B5F872BC720}"/>
              </a:ext>
            </a:extLst>
          </p:cNvPr>
          <p:cNvSpPr txBox="1"/>
          <p:nvPr/>
        </p:nvSpPr>
        <p:spPr>
          <a:xfrm>
            <a:off x="503634" y="2605087"/>
            <a:ext cx="56126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Create new organizations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Delete organizations and their datasets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62152-E00C-7025-5019-BB2142AC6F18}"/>
              </a:ext>
            </a:extLst>
          </p:cNvPr>
          <p:cNvSpPr txBox="1"/>
          <p:nvPr/>
        </p:nvSpPr>
        <p:spPr>
          <a:xfrm>
            <a:off x="491729" y="3801666"/>
            <a:ext cx="67794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👤 </a:t>
            </a:r>
            <a:r>
              <a:rPr lang="en-US" b="1"/>
              <a:t>USER MANAGEMENT AND AUTHENTICATION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CA32FE-BEEA-1073-8640-80CFED14BC91}"/>
              </a:ext>
            </a:extLst>
          </p:cNvPr>
          <p:cNvSpPr txBox="1"/>
          <p:nvPr/>
        </p:nvSpPr>
        <p:spPr>
          <a:xfrm>
            <a:off x="503634" y="4140994"/>
            <a:ext cx="900588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Get authenticated user information (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NEW in release - 08/31/2025</a:t>
            </a:r>
            <a:r>
              <a:rPr lang="en-US" dirty="0">
                <a:ea typeface="+mn-lt"/>
                <a:cs typeface="+mn-lt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Bearer token-based authentication system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Organization-based access control (configurable) (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NEW in release - 08/31/2025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571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13CB5-CD14-261D-56EA-9EF87FCC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935E1574-05BF-4C2C-AB68-4618596082E8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CD628251-653F-575F-B386-A0E489FE9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7803E762-4675-2716-8C05-FE0B6E1590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89DCEA4-FF01-3E18-0F62-1A65E20ED872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C9733E0-03C2-4FD5-1169-AB4BC8946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DD12A09-19B7-6D07-7FF9-E52EB4A70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94409F48-ECB8-AB9B-EE6D-099E34C951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7019" y="1674494"/>
            <a:ext cx="5903880" cy="500219"/>
          </a:xfrm>
        </p:spPr>
        <p:txBody>
          <a:bodyPr>
            <a:normAutofit fontScale="90000"/>
          </a:bodyPr>
          <a:lstStyle/>
          <a:p>
            <a:r>
              <a:rPr lang="es-ES" dirty="0"/>
              <a:t>NDP EP  </a:t>
            </a:r>
            <a:r>
              <a:rPr lang="es-ES" err="1"/>
              <a:t>Features</a:t>
            </a:r>
            <a:endParaRPr lang="es-E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9807B6-555B-B1FD-3FE8-A8867BAF4184}"/>
              </a:ext>
            </a:extLst>
          </p:cNvPr>
          <p:cNvSpPr txBox="1"/>
          <p:nvPr/>
        </p:nvSpPr>
        <p:spPr>
          <a:xfrm>
            <a:off x="450056" y="2414588"/>
            <a:ext cx="49399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🔧 </a:t>
            </a:r>
            <a:r>
              <a:rPr lang="en-US" b="1"/>
              <a:t>SERVICE MANAGEMENT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1540D-3652-8B33-0AD5-9756974F6BAD}"/>
              </a:ext>
            </a:extLst>
          </p:cNvPr>
          <p:cNvSpPr txBox="1"/>
          <p:nvPr/>
        </p:nvSpPr>
        <p:spPr>
          <a:xfrm>
            <a:off x="604837" y="290869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Service Registration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DCD34B-8AAF-83AD-BDE6-FD6989ED7B07}"/>
              </a:ext>
            </a:extLst>
          </p:cNvPr>
          <p:cNvSpPr txBox="1"/>
          <p:nvPr/>
        </p:nvSpPr>
        <p:spPr>
          <a:xfrm>
            <a:off x="604837" y="3093243"/>
            <a:ext cx="493990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Register services (APIs, microservices, etc.)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Includes service URL, documentation, health checks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Additional metadata and classification by types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Search services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Delete services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93000-15B7-9248-2284-9B3F557CED30}"/>
              </a:ext>
            </a:extLst>
          </p:cNvPr>
          <p:cNvSpPr txBox="1"/>
          <p:nvPr/>
        </p:nvSpPr>
        <p:spPr>
          <a:xfrm>
            <a:off x="6105525" y="2890837"/>
            <a:ext cx="55768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Service Proxy 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b="1" dirty="0">
                <a:solidFill>
                  <a:srgbClr val="FF0000"/>
                </a:solidFill>
                <a:ea typeface="+mn-lt"/>
                <a:cs typeface="+mn-lt"/>
              </a:rPr>
              <a:t>NEW in release  - 08/31/2025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B4674-590C-0B7D-A437-2BD79E3641D7}"/>
              </a:ext>
            </a:extLst>
          </p:cNvPr>
          <p:cNvSpPr txBox="1"/>
          <p:nvPr/>
        </p:nvSpPr>
        <p:spPr>
          <a:xfrm>
            <a:off x="6093619" y="3087289"/>
            <a:ext cx="585668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Redirect endpoints</a:t>
            </a:r>
            <a:r>
              <a:rPr lang="en-US" dirty="0">
                <a:ea typeface="+mn-lt"/>
                <a:cs typeface="+mn-lt"/>
              </a:rPr>
              <a:t>: Acts as a reverse proxy </a:t>
            </a:r>
            <a:endParaRPr lang="en-US" dirty="0"/>
          </a:p>
          <a:p>
            <a:r>
              <a:rPr lang="en-US" i="1" dirty="0">
                <a:solidFill>
                  <a:schemeClr val="accent6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/services/redirect/{</a:t>
            </a:r>
            <a:r>
              <a:rPr lang="en-US" i="1" dirty="0" err="1">
                <a:solidFill>
                  <a:schemeClr val="accent6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service_identifier</a:t>
            </a:r>
            <a:r>
              <a:rPr lang="en-US" i="1" dirty="0">
                <a:solidFill>
                  <a:schemeClr val="accent6">
                    <a:lumMod val="49000"/>
                  </a:schemeClr>
                </a:solidFill>
                <a:latin typeface="Consolas"/>
                <a:ea typeface="+mn-lt"/>
                <a:cs typeface="+mn-lt"/>
              </a:rPr>
              <a:t>}</a:t>
            </a:r>
            <a:endParaRPr lang="en-US" i="1" dirty="0">
              <a:solidFill>
                <a:schemeClr val="accent6">
                  <a:lumMod val="49000"/>
                </a:schemeClr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Forwards HTTP requests to registered services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Preserves methods, headers, and parameters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8545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9CFF8-55BE-8F46-3DDA-62CF3B3F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4A5ED08C-9993-1E91-B216-64AB4799F2E7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0691B2F-AD69-A107-E987-D94492B06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053616A8-583B-6659-2D9D-77857E1396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9631C06-6C20-A0D8-80F3-387C7B4BADE6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55FB97A2-8079-0FE5-2C62-8B1172D56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81266428-A572-5294-84B6-160057F84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B1A9AE82-4A12-9F35-8F49-2409B0586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41227" y="1621640"/>
            <a:ext cx="5043268" cy="527113"/>
          </a:xfrm>
        </p:spPr>
        <p:txBody>
          <a:bodyPr>
            <a:normAutofit fontScale="90000"/>
          </a:bodyPr>
          <a:lstStyle/>
          <a:p>
            <a:r>
              <a:rPr lang="es-ES" dirty="0"/>
              <a:t>EP - API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3B3F1B-43FE-5965-169D-7374F9AB6674}"/>
              </a:ext>
            </a:extLst>
          </p:cNvPr>
          <p:cNvSpPr txBox="1"/>
          <p:nvPr/>
        </p:nvSpPr>
        <p:spPr>
          <a:xfrm>
            <a:off x="662698" y="3830079"/>
            <a:ext cx="1107455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800" dirty="0" err="1"/>
              <a:t>Advanced</a:t>
            </a:r>
            <a:r>
              <a:rPr lang="es-ES" sz="2800" dirty="0"/>
              <a:t> </a:t>
            </a:r>
            <a:r>
              <a:rPr lang="es-ES" sz="2800" dirty="0" err="1"/>
              <a:t>installation</a:t>
            </a:r>
            <a:r>
              <a:rPr lang="es-ES" sz="2800" dirty="0"/>
              <a:t>, </a:t>
            </a:r>
            <a:r>
              <a:rPr lang="es-ES" sz="2800" dirty="0" err="1"/>
              <a:t>Configuration</a:t>
            </a:r>
            <a:r>
              <a:rPr lang="es-ES" sz="2800" dirty="0"/>
              <a:t> and </a:t>
            </a:r>
            <a:r>
              <a:rPr lang="es-ES" sz="2800" dirty="0" err="1"/>
              <a:t>Tutorials</a:t>
            </a:r>
            <a:r>
              <a:rPr lang="es-ES" sz="2800" dirty="0"/>
              <a:t>:</a:t>
            </a:r>
            <a:br>
              <a:rPr lang="es-ES" sz="2800" dirty="0"/>
            </a:br>
            <a:r>
              <a:rPr lang="es-ES" sz="2800" dirty="0">
                <a:hlinkClick r:id="rId6"/>
              </a:rPr>
              <a:t>https://github.com/national-data-platform/ep-api</a:t>
            </a:r>
            <a:endParaRPr lang="es-E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5C216-2954-8343-6DF6-A8FD77170B9D}"/>
              </a:ext>
            </a:extLst>
          </p:cNvPr>
          <p:cNvSpPr txBox="1"/>
          <p:nvPr/>
        </p:nvSpPr>
        <p:spPr>
          <a:xfrm>
            <a:off x="2420470" y="2626659"/>
            <a:ext cx="77903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/>
              <a:t>docker run -p 8001:8000 </a:t>
            </a:r>
            <a:r>
              <a:rPr lang="en-US" sz="2800" err="1"/>
              <a:t>rbardaji</a:t>
            </a:r>
            <a:r>
              <a:rPr lang="en-US" sz="2800" dirty="0"/>
              <a:t>/</a:t>
            </a:r>
            <a:r>
              <a:rPr lang="en-US" sz="2800" err="1"/>
              <a:t>ndp</a:t>
            </a:r>
            <a:r>
              <a:rPr lang="en-US" sz="2800" dirty="0"/>
              <a:t>-ep-</a:t>
            </a:r>
            <a:r>
              <a:rPr lang="en-US" sz="2800" err="1"/>
              <a:t>api</a:t>
            </a:r>
            <a:endParaRPr lang="en-US" sz="2800" dirty="0"/>
          </a:p>
        </p:txBody>
      </p:sp>
      <p:pic>
        <p:nvPicPr>
          <p:cNvPr id="3" name="Picture 2" descr="Docker Logo - Docker Png - Free Transparent PNG Clipart ...">
            <a:extLst>
              <a:ext uri="{FF2B5EF4-FFF2-40B4-BE49-F238E27FC236}">
                <a16:creationId xmlns:a16="http://schemas.microsoft.com/office/drawing/2014/main" id="{1126A80F-8B46-8E58-7EA8-8379387884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388" y="2413587"/>
            <a:ext cx="1577789" cy="9371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5C1CF6-2BD9-4B6B-0C5C-F3E01EDA81A7}"/>
              </a:ext>
            </a:extLst>
          </p:cNvPr>
          <p:cNvSpPr txBox="1"/>
          <p:nvPr/>
        </p:nvSpPr>
        <p:spPr>
          <a:xfrm>
            <a:off x="765153" y="5012601"/>
            <a:ext cx="577396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You need a CKAN instance to act as "local CKAN"</a:t>
            </a:r>
          </a:p>
        </p:txBody>
      </p:sp>
    </p:spTree>
    <p:extLst>
      <p:ext uri="{BB962C8B-B14F-4D97-AF65-F5344CB8AC3E}">
        <p14:creationId xmlns:p14="http://schemas.microsoft.com/office/powerpoint/2010/main" val="2828725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F4A92-1666-FBEF-F320-60136383D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026C0174-CCB7-58CC-AC27-705F56317955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EBEB6F2D-09A8-B4DD-B481-F57F50FA8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6BA0F9A0-09BF-6171-0130-3A8C56AE7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BA053C1-4CE7-F81B-A3C4-81A05477979E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197EF22-5293-465A-0433-2B7438884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7C59D0E-C550-0ED2-4DA6-6817530AA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AA5CAEB9-698C-4E03-239D-04651EA1C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5577" y="1530060"/>
            <a:ext cx="5043268" cy="527113"/>
          </a:xfrm>
        </p:spPr>
        <p:txBody>
          <a:bodyPr>
            <a:normAutofit fontScale="90000"/>
          </a:bodyPr>
          <a:lstStyle/>
          <a:p>
            <a:r>
              <a:rPr lang="es-ES" dirty="0"/>
              <a:t>EP - </a:t>
            </a:r>
            <a:r>
              <a:rPr lang="es-ES" dirty="0" err="1"/>
              <a:t>Frontend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9C04D7-0111-045E-0B12-F8F8090F3FB4}"/>
              </a:ext>
            </a:extLst>
          </p:cNvPr>
          <p:cNvSpPr txBox="1"/>
          <p:nvPr/>
        </p:nvSpPr>
        <p:spPr>
          <a:xfrm>
            <a:off x="492369" y="2126786"/>
            <a:ext cx="10464950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Admin Web Console</a:t>
            </a:r>
            <a:endParaRPr lang="es-ES" alt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110004020202020204"/>
            </a:endParaRPr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1936ECA8-45F5-5DAD-E2FB-03A291988488}"/>
              </a:ext>
            </a:extLst>
          </p:cNvPr>
          <p:cNvSpPr txBox="1"/>
          <p:nvPr/>
        </p:nvSpPr>
        <p:spPr>
          <a:xfrm>
            <a:off x="608910" y="4242456"/>
            <a:ext cx="1107455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800" dirty="0" err="1"/>
              <a:t>Advanced</a:t>
            </a:r>
            <a:r>
              <a:rPr lang="es-ES" sz="2800" dirty="0"/>
              <a:t> </a:t>
            </a:r>
            <a:r>
              <a:rPr lang="es-ES" sz="2800" dirty="0" err="1"/>
              <a:t>installation</a:t>
            </a:r>
            <a:r>
              <a:rPr lang="es-ES" sz="2800" dirty="0"/>
              <a:t>, </a:t>
            </a:r>
            <a:r>
              <a:rPr lang="es-ES" sz="2800" dirty="0" err="1"/>
              <a:t>Configuration</a:t>
            </a:r>
            <a:r>
              <a:rPr lang="es-ES" sz="2800" dirty="0"/>
              <a:t> and </a:t>
            </a:r>
            <a:r>
              <a:rPr lang="es-ES" sz="2800" dirty="0" err="1"/>
              <a:t>Tutorials</a:t>
            </a:r>
            <a:r>
              <a:rPr lang="es-ES" sz="2800" dirty="0"/>
              <a:t>:</a:t>
            </a:r>
            <a:br>
              <a:rPr lang="es-ES" sz="2800" dirty="0"/>
            </a:br>
            <a:r>
              <a:rPr lang="es-ES" sz="2800" dirty="0">
                <a:hlinkClick r:id="rId6"/>
              </a:rPr>
              <a:t>https://github.com/national-data-platform/ep-frontend</a:t>
            </a:r>
            <a:endParaRPr lang="es-E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5C4712-1FBD-C96D-A7FB-280F14E06566}"/>
              </a:ext>
            </a:extLst>
          </p:cNvPr>
          <p:cNvSpPr txBox="1"/>
          <p:nvPr/>
        </p:nvSpPr>
        <p:spPr>
          <a:xfrm>
            <a:off x="2366682" y="3039036"/>
            <a:ext cx="116182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onsolas"/>
              </a:rPr>
              <a:t>docker run -p 3000:80 -e NDP_EP_API="NDP EP-API URL" \</a:t>
            </a:r>
            <a:endParaRPr lang="en-US" sz="2400" dirty="0" err="1">
              <a:latin typeface="Aptos" panose="02110004020202020204"/>
            </a:endParaRPr>
          </a:p>
          <a:p>
            <a:r>
              <a:rPr lang="en-US" dirty="0">
                <a:latin typeface="Consolas"/>
              </a:rPr>
              <a:t>   </a:t>
            </a:r>
            <a:r>
              <a:rPr lang="en-US" dirty="0" err="1">
                <a:latin typeface="Consolas"/>
              </a:rPr>
              <a:t>rbardaji</a:t>
            </a:r>
            <a:r>
              <a:rPr lang="en-US" dirty="0">
                <a:latin typeface="Consolas"/>
              </a:rPr>
              <a:t>/</a:t>
            </a:r>
            <a:r>
              <a:rPr lang="en-US" dirty="0" err="1">
                <a:latin typeface="Consolas"/>
              </a:rPr>
              <a:t>ndp-ep-frontend:latest</a:t>
            </a:r>
            <a:endParaRPr lang="en-US" sz="2400" dirty="0" err="1"/>
          </a:p>
        </p:txBody>
      </p:sp>
      <p:pic>
        <p:nvPicPr>
          <p:cNvPr id="14" name="Picture 13" descr="Docker Logo - Docker Png - Free Transparent PNG Clipart ...">
            <a:extLst>
              <a:ext uri="{FF2B5EF4-FFF2-40B4-BE49-F238E27FC236}">
                <a16:creationId xmlns:a16="http://schemas.microsoft.com/office/drawing/2014/main" id="{36ACDFDA-E7D5-2E33-A229-80AB9E0537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825964"/>
            <a:ext cx="1577789" cy="9371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611729A-FECB-0D00-23ED-7EDE4654806E}"/>
              </a:ext>
            </a:extLst>
          </p:cNvPr>
          <p:cNvSpPr txBox="1"/>
          <p:nvPr/>
        </p:nvSpPr>
        <p:spPr>
          <a:xfrm>
            <a:off x="702400" y="5416013"/>
            <a:ext cx="577396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You need NDP EP-API up and running</a:t>
            </a:r>
          </a:p>
        </p:txBody>
      </p:sp>
    </p:spTree>
    <p:extLst>
      <p:ext uri="{BB962C8B-B14F-4D97-AF65-F5344CB8AC3E}">
        <p14:creationId xmlns:p14="http://schemas.microsoft.com/office/powerpoint/2010/main" val="2163474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DD5C-E94F-1202-CBCE-20A85415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99B2EAF0-455A-53E8-BD05-6F70EF21EFFF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C6A6F273-4D6B-946C-4302-BBF3F783C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0575F4DA-C89E-BED4-2265-15156A0DD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9D74E21-AF69-7605-31B8-1B1D8C24D96E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3250DBB9-9D2A-CFAE-794C-C40933DE8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12332DED-2023-C306-042D-0FC59D3F3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531D0325-C439-DA2C-F8B2-94332E6C5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5577" y="1530060"/>
            <a:ext cx="5043268" cy="527113"/>
          </a:xfrm>
        </p:spPr>
        <p:txBody>
          <a:bodyPr>
            <a:normAutofit fontScale="90000"/>
          </a:bodyPr>
          <a:lstStyle/>
          <a:p>
            <a:r>
              <a:rPr lang="es-ES" dirty="0"/>
              <a:t>EP -  Python</a:t>
            </a:r>
          </a:p>
        </p:txBody>
      </p:sp>
      <p:sp>
        <p:nvSpPr>
          <p:cNvPr id="3" name="CuadroTexto 5">
            <a:extLst>
              <a:ext uri="{FF2B5EF4-FFF2-40B4-BE49-F238E27FC236}">
                <a16:creationId xmlns:a16="http://schemas.microsoft.com/office/drawing/2014/main" id="{C1287936-2558-855B-337C-63A08AC44F40}"/>
              </a:ext>
            </a:extLst>
          </p:cNvPr>
          <p:cNvSpPr txBox="1"/>
          <p:nvPr/>
        </p:nvSpPr>
        <p:spPr>
          <a:xfrm>
            <a:off x="573191" y="4403190"/>
            <a:ext cx="1107455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800" err="1"/>
              <a:t>Advanced</a:t>
            </a:r>
            <a:r>
              <a:rPr lang="es-ES" sz="2800" dirty="0"/>
              <a:t> </a:t>
            </a:r>
            <a:r>
              <a:rPr lang="es-ES" sz="2800" err="1"/>
              <a:t>installation</a:t>
            </a:r>
            <a:r>
              <a:rPr lang="es-ES" sz="2800" dirty="0"/>
              <a:t>, </a:t>
            </a:r>
            <a:r>
              <a:rPr lang="es-ES" sz="2800" err="1"/>
              <a:t>Configuration</a:t>
            </a:r>
            <a:r>
              <a:rPr lang="es-ES" sz="2800" dirty="0"/>
              <a:t> and </a:t>
            </a:r>
            <a:r>
              <a:rPr lang="es-ES" sz="2800" err="1"/>
              <a:t>Tutorials</a:t>
            </a:r>
            <a:r>
              <a:rPr lang="es-ES" sz="2800"/>
              <a:t>:</a:t>
            </a:r>
            <a:br>
              <a:rPr lang="es-ES" sz="2800" dirty="0"/>
            </a:br>
            <a:r>
              <a:rPr lang="es-ES" sz="2800"/>
              <a:t>https://github.com/sci-ndp/ndp-ep-py</a:t>
            </a:r>
            <a:endParaRPr lang="es-E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ES" altLang="es-E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8F1A4B-DAA7-5203-2A68-B43E7B1EF651}"/>
              </a:ext>
            </a:extLst>
          </p:cNvPr>
          <p:cNvSpPr txBox="1"/>
          <p:nvPr/>
        </p:nvSpPr>
        <p:spPr>
          <a:xfrm>
            <a:off x="2515510" y="2955693"/>
            <a:ext cx="116182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pip install </a:t>
            </a:r>
            <a:r>
              <a:rPr lang="en-US" dirty="0" err="1">
                <a:latin typeface="Consolas"/>
              </a:rPr>
              <a:t>ndp</a:t>
            </a:r>
            <a:r>
              <a:rPr lang="en-US" dirty="0">
                <a:latin typeface="Consolas"/>
              </a:rPr>
              <a:t>-ep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D91CDC-67A2-917B-E662-1773B1442E7E}"/>
              </a:ext>
            </a:extLst>
          </p:cNvPr>
          <p:cNvSpPr txBox="1"/>
          <p:nvPr/>
        </p:nvSpPr>
        <p:spPr>
          <a:xfrm>
            <a:off x="702400" y="5416013"/>
            <a:ext cx="577396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You need NDP EP-API up and running</a:t>
            </a:r>
          </a:p>
        </p:txBody>
      </p:sp>
      <p:pic>
        <p:nvPicPr>
          <p:cNvPr id="2" name="Picture 1" descr="File:PyPI logo.svg - Wikimedia Commons">
            <a:extLst>
              <a:ext uri="{FF2B5EF4-FFF2-40B4-BE49-F238E27FC236}">
                <a16:creationId xmlns:a16="http://schemas.microsoft.com/office/drawing/2014/main" id="{6A78F8B7-3D0F-A1A4-41F7-B0C0B96E9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578" y="2666998"/>
            <a:ext cx="1529954" cy="109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2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1874A-320C-E12C-9F42-BEBFD4CFE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7859FBED-087B-97A6-4F59-383D659CD45E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2470BDF9-492B-4E6A-E447-077BE6DFC5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6BBE8B27-CE64-48B6-46AA-6B4C52A40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493CD7CA-D0B1-57D8-8C01-7F6379C199F3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5D2F668-A4D5-D1D0-AD2D-D8EDA576C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FF52A447-F28E-B2F4-6D82-54D4E0F93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3" name="Título 3">
            <a:extLst>
              <a:ext uri="{FF2B5EF4-FFF2-40B4-BE49-F238E27FC236}">
                <a16:creationId xmlns:a16="http://schemas.microsoft.com/office/drawing/2014/main" id="{249B44EC-F327-8741-3C17-AC802A172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766" y="3161216"/>
            <a:ext cx="10966627" cy="527113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Some</a:t>
            </a:r>
            <a:r>
              <a:rPr lang="es-ES" dirty="0"/>
              <a:t> EP -  </a:t>
            </a:r>
            <a:r>
              <a:rPr lang="es-ES" dirty="0" err="1"/>
              <a:t>Frontend</a:t>
            </a:r>
            <a:r>
              <a:rPr lang="es-ES" dirty="0"/>
              <a:t> </a:t>
            </a:r>
            <a:r>
              <a:rPr lang="es-ES" dirty="0" err="1"/>
              <a:t>screenshots</a:t>
            </a:r>
          </a:p>
        </p:txBody>
      </p:sp>
    </p:spTree>
    <p:extLst>
      <p:ext uri="{BB962C8B-B14F-4D97-AF65-F5344CB8AC3E}">
        <p14:creationId xmlns:p14="http://schemas.microsoft.com/office/powerpoint/2010/main" val="3473928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376D-E406-4242-DDB2-B1FDB0A4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B20B74D1-2DBD-5B78-2148-86F5DE547BDD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65A3EAF-9AF7-D2E3-4243-DBF0EA16D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43EE2BFE-CF97-EAC5-6E4C-D39B2A312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8E01D694-F5E4-E2A9-9475-2CE8A501457D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AD193D2-0029-70D9-5942-714422FAD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626E5C16-A494-5D46-43A1-2B33F03BE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pic>
        <p:nvPicPr>
          <p:cNvPr id="11" name="Imagen 10">
            <a:extLst>
              <a:ext uri="{FF2B5EF4-FFF2-40B4-BE49-F238E27FC236}">
                <a16:creationId xmlns:a16="http://schemas.microsoft.com/office/drawing/2014/main" id="{569D9359-39D4-7524-A6F4-1EDCB3EBB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917" y="1485900"/>
            <a:ext cx="3359311" cy="35766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00AB526-4770-50A1-100D-8B6BF1BE03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4998" y="1670050"/>
            <a:ext cx="5683551" cy="2413286"/>
          </a:xfrm>
          <a:prstGeom prst="rect">
            <a:avLst/>
          </a:prstGeom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A863953B-B370-AA24-0A5B-85E7F26609B9}"/>
              </a:ext>
            </a:extLst>
          </p:cNvPr>
          <p:cNvCxnSpPr>
            <a:cxnSpLocks/>
          </p:cNvCxnSpPr>
          <p:nvPr/>
        </p:nvCxnSpPr>
        <p:spPr>
          <a:xfrm flipH="1">
            <a:off x="2768600" y="2749550"/>
            <a:ext cx="7296150" cy="86995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AE803B5-ACFA-D83C-03D8-2B0098693FEA}"/>
              </a:ext>
            </a:extLst>
          </p:cNvPr>
          <p:cNvSpPr txBox="1"/>
          <p:nvPr/>
        </p:nvSpPr>
        <p:spPr>
          <a:xfrm>
            <a:off x="5969737" y="40833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https://nationaldataplatform.org/</a:t>
            </a:r>
          </a:p>
        </p:txBody>
      </p:sp>
    </p:spTree>
    <p:extLst>
      <p:ext uri="{BB962C8B-B14F-4D97-AF65-F5344CB8AC3E}">
        <p14:creationId xmlns:p14="http://schemas.microsoft.com/office/powerpoint/2010/main" val="4137644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19A9A-206F-7E06-8F3B-EB05170B2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48E6CA34-5175-A325-2EB4-488EC2C515A1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5525C5C-9472-A615-C1FB-2D8621DDB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63D50FAB-2F39-5EA8-A0AD-BBB77E01E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3D15CD3-8A00-A9B0-A89A-9F1DAFBDB032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8ADD211-F797-3279-0C90-B5BB2123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A76BAB26-6EC6-A06B-C4B8-AD42759CF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D5565E1-4DA0-2B4D-6C4B-7FCDD92A3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15" y="0"/>
            <a:ext cx="119605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193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2184-DC37-87C5-40BD-4A158C90B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BE5ED55A-D038-72A7-A54A-6A8AB11C0626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5966189-C2A6-49C2-4189-F80257338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57FD05EA-ECC3-DD1D-CF5F-D26AE2A1A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797C0624-5984-E273-ABBC-20260F5E2D51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0E5EA667-22AD-1E0F-2790-BA7C7DF88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2E1A7DC4-A90A-86AF-85F0-A1A14885C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7228E18D-780C-C43C-9CEC-8B09F296AB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53369" y="66625"/>
            <a:ext cx="12560827" cy="6672311"/>
          </a:xfrm>
          <a:prstGeom prst="rect">
            <a:avLst/>
          </a:prstGeom>
        </p:spPr>
      </p:pic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2ADEE133-E3FD-DCB6-1AEA-CFAB9AB9E6F9}"/>
              </a:ext>
            </a:extLst>
          </p:cNvPr>
          <p:cNvCxnSpPr>
            <a:cxnSpLocks/>
          </p:cNvCxnSpPr>
          <p:nvPr/>
        </p:nvCxnSpPr>
        <p:spPr>
          <a:xfrm flipH="1">
            <a:off x="3385188" y="1090468"/>
            <a:ext cx="1045029" cy="3431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9D20EC6-82DD-976D-C4F0-75A6593BFF19}"/>
              </a:ext>
            </a:extLst>
          </p:cNvPr>
          <p:cNvSpPr txBox="1"/>
          <p:nvPr/>
        </p:nvSpPr>
        <p:spPr>
          <a:xfrm>
            <a:off x="4596648" y="479475"/>
            <a:ext cx="6507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/>
                </a:solidFill>
              </a:rPr>
              <a:t>The frontend monitors system health and</a:t>
            </a:r>
          </a:p>
          <a:p>
            <a:r>
              <a:rPr lang="en-US" sz="2800" dirty="0">
                <a:solidFill>
                  <a:schemeClr val="accent3"/>
                </a:solidFill>
              </a:rPr>
              <a:t>diagnoses component failures.</a:t>
            </a:r>
            <a:endParaRPr lang="es-ES" sz="2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105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EB667-1C49-2441-84C1-F4952CBE9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5D5FE-71DE-1345-CAE2-59EC11D28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48AD9F-8568-AC8D-3ADE-E785375E0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41" y="0"/>
            <a:ext cx="11360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95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9F07E-079C-5C27-7BC1-E50947A8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21057-4336-EF5C-6E0F-5984DD1AA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792E19-F92A-8481-C45D-CAB60CA48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776C68-4D7C-0E5C-5EF2-71E32E60C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8" y="71413"/>
            <a:ext cx="12106364" cy="671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72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F2E2B-E9DE-A00F-9B84-7644B82ED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C3BD9302-25B4-5F78-18C8-836B7BE22619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5E71B64-E813-F128-9BB6-E0304E23DB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8A135A19-7618-8D96-8EF1-E49969387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05F15532-5E5B-955C-D56D-2EE00DBF21C4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CE58A737-C79E-30ED-541A-AB68D6A2C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7EC4D813-1C20-F6F1-EF19-935E3E492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7D838A7B-8A9B-D492-CDCD-1B581A871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62999" y="1599673"/>
            <a:ext cx="10776257" cy="527113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Dataset</a:t>
            </a:r>
            <a:r>
              <a:rPr lang="es-ES" dirty="0"/>
              <a:t> </a:t>
            </a:r>
            <a:r>
              <a:rPr lang="es-ES" dirty="0" err="1"/>
              <a:t>Publication</a:t>
            </a:r>
            <a:r>
              <a:rPr lang="es-ES" dirty="0"/>
              <a:t> </a:t>
            </a:r>
            <a:r>
              <a:rPr lang="es-ES" dirty="0" err="1"/>
              <a:t>Workflow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ED1E6B2-552A-F798-7E29-11667854DD5C}"/>
              </a:ext>
            </a:extLst>
          </p:cNvPr>
          <p:cNvSpPr txBox="1"/>
          <p:nvPr/>
        </p:nvSpPr>
        <p:spPr>
          <a:xfrm>
            <a:off x="326572" y="2126786"/>
            <a:ext cx="7291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From Private Development to Public Access</a:t>
            </a:r>
            <a:endParaRPr lang="es-ES" sz="2800" b="1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2E21BED0-E042-0EA7-A7C4-0C0BCD9946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760275"/>
              </p:ext>
            </p:extLst>
          </p:nvPr>
        </p:nvGraphicFramePr>
        <p:xfrm>
          <a:off x="491447" y="1337885"/>
          <a:ext cx="1061138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336087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95DD1-02E2-1A1D-8F42-18957D0F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5C68FA8C-63DD-0360-E763-68D13B8E78CB}"/>
              </a:ext>
            </a:extLst>
          </p:cNvPr>
          <p:cNvGrpSpPr/>
          <p:nvPr/>
        </p:nvGrpSpPr>
        <p:grpSpPr>
          <a:xfrm>
            <a:off x="26091" y="-1"/>
            <a:ext cx="12165909" cy="1195401"/>
            <a:chOff x="26091" y="-1"/>
            <a:chExt cx="12262037" cy="119540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CBF1A70-9C27-DA00-BF97-32AA09B77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091" y="0"/>
              <a:ext cx="3103971" cy="11954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F2325EF-37EC-10F6-46F5-FAEEE41FD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5922"/>
            <a:stretch>
              <a:fillRect/>
            </a:stretch>
          </p:blipFill>
          <p:spPr>
            <a:xfrm>
              <a:off x="2984441" y="-1"/>
              <a:ext cx="9303687" cy="1195401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E4FE567-4E7F-7CF6-4CAC-9D4E7A576EF7}"/>
              </a:ext>
            </a:extLst>
          </p:cNvPr>
          <p:cNvGrpSpPr/>
          <p:nvPr/>
        </p:nvGrpSpPr>
        <p:grpSpPr>
          <a:xfrm>
            <a:off x="492369" y="5893912"/>
            <a:ext cx="10611381" cy="933457"/>
            <a:chOff x="492369" y="5893912"/>
            <a:chExt cx="10611381" cy="933457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6C8D6C67-8A9C-B29B-334D-C96F76362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2369" y="5893912"/>
              <a:ext cx="5419765" cy="933457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5F4E609-A46E-A56E-000B-517105A73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9737" y="6043606"/>
              <a:ext cx="5134013" cy="695330"/>
            </a:xfrm>
            <a:prstGeom prst="rect">
              <a:avLst/>
            </a:prstGeom>
          </p:spPr>
        </p:pic>
      </p:grpSp>
      <p:sp>
        <p:nvSpPr>
          <p:cNvPr id="4" name="Título 3">
            <a:extLst>
              <a:ext uri="{FF2B5EF4-FFF2-40B4-BE49-F238E27FC236}">
                <a16:creationId xmlns:a16="http://schemas.microsoft.com/office/drawing/2014/main" id="{3FB83A23-D1C9-5B81-6F37-C31190744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862999" y="1599673"/>
            <a:ext cx="10776257" cy="527113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Service</a:t>
            </a:r>
            <a:r>
              <a:rPr lang="es-ES" dirty="0"/>
              <a:t> </a:t>
            </a:r>
            <a:r>
              <a:rPr lang="es-ES" dirty="0" err="1"/>
              <a:t>Publication</a:t>
            </a:r>
            <a:r>
              <a:rPr lang="es-ES" dirty="0"/>
              <a:t> </a:t>
            </a:r>
            <a:r>
              <a:rPr lang="es-ES" dirty="0" err="1"/>
              <a:t>Workflow</a:t>
            </a:r>
            <a:endParaRPr lang="es-ES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ACF46ADD-9837-C747-DD04-7AEAC23841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8934815"/>
              </p:ext>
            </p:extLst>
          </p:nvPr>
        </p:nvGraphicFramePr>
        <p:xfrm>
          <a:off x="499144" y="1191643"/>
          <a:ext cx="1061138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35389042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361</Words>
  <Application>Microsoft Office PowerPoint</Application>
  <PresentationFormat>Widescreen</PresentationFormat>
  <Paragraphs>65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Tema de Office</vt:lpstr>
      <vt:lpstr>National Data Platform EndPoints</vt:lpstr>
      <vt:lpstr>What are NDP EndPoints?</vt:lpstr>
      <vt:lpstr>Key Concept</vt:lpstr>
      <vt:lpstr>NDP EP Stack</vt:lpstr>
      <vt:lpstr>NDP EP Stack</vt:lpstr>
      <vt:lpstr>NDP EP  Features</vt:lpstr>
      <vt:lpstr>NDP EP  Features</vt:lpstr>
      <vt:lpstr>NDP EP  Features</vt:lpstr>
      <vt:lpstr>NDP EP  Features</vt:lpstr>
      <vt:lpstr>EP - API</vt:lpstr>
      <vt:lpstr>EP - Frontend</vt:lpstr>
      <vt:lpstr>EP -  Python</vt:lpstr>
      <vt:lpstr>Some EP -  Frontend screenshots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Dataset Publication Workflow</vt:lpstr>
      <vt:lpstr>Service Publication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Raul Bardaji</dc:creator>
  <cp:lastModifiedBy>Raul Bardaji</cp:lastModifiedBy>
  <cp:revision>458</cp:revision>
  <dcterms:created xsi:type="dcterms:W3CDTF">2025-08-25T13:37:48Z</dcterms:created>
  <dcterms:modified xsi:type="dcterms:W3CDTF">2025-08-29T10:39:06Z</dcterms:modified>
</cp:coreProperties>
</file>